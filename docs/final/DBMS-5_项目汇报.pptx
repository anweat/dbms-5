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">
            <a:off x="8412480" y="-502920"/>
            <a:ext cx="4389120" cy="2926080"/>
          </a:xfrm>
          <a:prstGeom prst="rtTriangle">
            <a:avLst/>
          </a:prstGeom>
          <a:solidFill>
            <a:srgbClr val="134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20220000">
            <a:off x="9326880" y="4297680"/>
            <a:ext cx="3474720" cy="2926080"/>
          </a:xfrm>
          <a:prstGeom prst="triangle">
            <a:avLst/>
          </a:prstGeom>
          <a:solidFill>
            <a:srgbClr val="238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-640080" y="5257800"/>
            <a:ext cx="4480560" cy="1645920"/>
          </a:xfrm>
          <a:prstGeom prst="parallelogram">
            <a:avLst/>
          </a:prstGeom>
          <a:solidFill>
            <a:srgbClr val="186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 rot="20520000">
            <a:off x="-868680" y="-411480"/>
            <a:ext cx="3108960" cy="2194560"/>
          </a:xfrm>
          <a:prstGeom prst="homePlate">
            <a:avLst/>
          </a:prstGeom>
          <a:solidFill>
            <a:srgbClr val="0F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>
            <a:off x="6400800" y="502920"/>
            <a:ext cx="1920240" cy="1371600"/>
          </a:xfrm>
          <a:prstGeom prst="rtTriangle">
            <a:avLst/>
          </a:prstGeom>
          <a:solidFill>
            <a:srgbClr val="37A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8912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5568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1143000"/>
            <a:ext cx="804672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Microsoft YaHei"/>
              </a:rPr>
              <a:t>DBMS-5 项目汇报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938528"/>
            <a:ext cx="8412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B1CCE5"/>
                </a:solidFill>
                <a:latin typeface="Microsoft YaHei"/>
              </a:rPr>
              <a:t>轻量级关系型数据库管理系统：从 SQL 解析、执行器、文件存储到 Qt 管理界面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434840"/>
            <a:ext cx="2331720" cy="96012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99432"/>
            <a:ext cx="194767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42B1FF"/>
                </a:solidFill>
                <a:latin typeface="Microsoft YaHei"/>
              </a:rPr>
              <a:t>C++17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37760"/>
            <a:ext cx="1947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自研内核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0712" y="4434840"/>
            <a:ext cx="2331720" cy="96012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80" y="4599432"/>
            <a:ext cx="194767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2C7BE"/>
                </a:solidFill>
                <a:latin typeface="Microsoft YaHei"/>
              </a:rPr>
              <a:t>SQL 子集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4937760"/>
            <a:ext cx="1947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DDL / DML / JOIN / 聚合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08192" y="4434840"/>
            <a:ext cx="2331720" cy="96012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4599432"/>
            <a:ext cx="194767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62DC94"/>
                </a:solidFill>
                <a:latin typeface="Microsoft YaHei"/>
              </a:rPr>
              <a:t>可靠性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937760"/>
            <a:ext cx="1947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事务 + WAL 恢复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672" y="4434840"/>
            <a:ext cx="2331720" cy="96012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4599432"/>
            <a:ext cx="194767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B74D"/>
                </a:solidFill>
                <a:latin typeface="Microsoft YaHei"/>
              </a:rPr>
              <a:t>Qt Widgets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4937760"/>
            <a:ext cx="1947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可视化管理演示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806440"/>
            <a:ext cx="7315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F4FF"/>
                </a:solidFill>
                <a:latin typeface="Microsoft YaHei"/>
              </a:rPr>
              <a:t>汇报主线：功能演示 → 系统结构 → 关键代码 → 测试交付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">
            <a:off x="8412480" y="-502920"/>
            <a:ext cx="4389120" cy="2926080"/>
          </a:xfrm>
          <a:prstGeom prst="rtTriangle">
            <a:avLst/>
          </a:prstGeom>
          <a:solidFill>
            <a:srgbClr val="134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20220000">
            <a:off x="9326880" y="4297680"/>
            <a:ext cx="3474720" cy="2926080"/>
          </a:xfrm>
          <a:prstGeom prst="triangle">
            <a:avLst/>
          </a:prstGeom>
          <a:solidFill>
            <a:srgbClr val="238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-640080" y="5257800"/>
            <a:ext cx="4480560" cy="1645920"/>
          </a:xfrm>
          <a:prstGeom prst="parallelogram">
            <a:avLst/>
          </a:prstGeom>
          <a:solidFill>
            <a:srgbClr val="186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 rot="20520000">
            <a:off x="-868680" y="-411480"/>
            <a:ext cx="3108960" cy="2194560"/>
          </a:xfrm>
          <a:prstGeom prst="homePlate">
            <a:avLst/>
          </a:prstGeom>
          <a:solidFill>
            <a:srgbClr val="0F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>
            <a:off x="6400800" y="502920"/>
            <a:ext cx="1920240" cy="1371600"/>
          </a:xfrm>
          <a:prstGeom prst="rtTriangle">
            <a:avLst/>
          </a:prstGeom>
          <a:solidFill>
            <a:srgbClr val="37A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8912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5568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310896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2B1FF"/>
                </a:solidFill>
                <a:latin typeface="Microsoft YaHei"/>
              </a:rPr>
              <a:t>PROJECT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01984" y="301752"/>
            <a:ext cx="3200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B1CCE5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13232"/>
            <a:ext cx="89611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项目边界：做一个能跑通闭环的小型 DBMS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353312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B1CCE5"/>
                </a:solidFill>
                <a:latin typeface="Microsoft YaHei"/>
              </a:rPr>
              <a:t>不接入现成数据库；CLI 与 Qt 都复用同一套后端执行链路。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1874519"/>
            <a:ext cx="3383280" cy="3520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2039111"/>
            <a:ext cx="29992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42B1FF"/>
                </a:solidFill>
                <a:latin typeface="Microsoft YaHei"/>
              </a:rPr>
              <a:t>可演示功能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377439"/>
            <a:ext cx="2999232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登录 root/root、创建数据库与表、插入/查询/更新/删除数据、建索引、事务提交/回滚、创建用户并授权回收。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874519"/>
            <a:ext cx="3383280" cy="3520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2039111"/>
            <a:ext cx="29992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2C7BE"/>
                </a:solidFill>
                <a:latin typeface="Microsoft YaHei"/>
              </a:rPr>
              <a:t>代码落点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2377439"/>
            <a:ext cx="2999232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src/engine 负责 SQL 内核，src/engine/storage 负责持久化，src/ui 负责 Qt 管理界面，tests 覆盖解析、集成、安全和 UI 冒烟。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874519"/>
            <a:ext cx="3383280" cy="3520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2168" y="2039111"/>
            <a:ext cx="29992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B74D"/>
                </a:solidFill>
                <a:latin typeface="Microsoft YaHei"/>
              </a:rPr>
              <a:t>验收证据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2377439"/>
            <a:ext cx="2999232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docs/final 存放最终报告与 PPT，demos/qt_admin_workflow_demo_fullscreen.mp4 提供完整界面演示录屏。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">
            <a:off x="8412480" y="-502920"/>
            <a:ext cx="4389120" cy="2926080"/>
          </a:xfrm>
          <a:prstGeom prst="rtTriangle">
            <a:avLst/>
          </a:prstGeom>
          <a:solidFill>
            <a:srgbClr val="134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20220000">
            <a:off x="9326880" y="4297680"/>
            <a:ext cx="3474720" cy="2926080"/>
          </a:xfrm>
          <a:prstGeom prst="triangle">
            <a:avLst/>
          </a:prstGeom>
          <a:solidFill>
            <a:srgbClr val="238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-640080" y="5257800"/>
            <a:ext cx="4480560" cy="1645920"/>
          </a:xfrm>
          <a:prstGeom prst="parallelogram">
            <a:avLst/>
          </a:prstGeom>
          <a:solidFill>
            <a:srgbClr val="186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 rot="20520000">
            <a:off x="-868680" y="-411480"/>
            <a:ext cx="3108960" cy="2194560"/>
          </a:xfrm>
          <a:prstGeom prst="homePlate">
            <a:avLst/>
          </a:prstGeom>
          <a:solidFill>
            <a:srgbClr val="0F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>
            <a:off x="6400800" y="502920"/>
            <a:ext cx="1920240" cy="1371600"/>
          </a:xfrm>
          <a:prstGeom prst="rtTriangle">
            <a:avLst/>
          </a:prstGeom>
          <a:solidFill>
            <a:srgbClr val="37A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8912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5568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310896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2B1FF"/>
                </a:solidFill>
                <a:latin typeface="Microsoft YaHei"/>
              </a:rPr>
              <a:t>FUNCTION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01984" y="301752"/>
            <a:ext cx="3200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B1CCE5"/>
                </a:solidFill>
                <a:latin typeface="Microsoft Ya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13232"/>
            <a:ext cx="89611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功能不是散点：围绕数据库管理流程组织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353312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B1CCE5"/>
                </a:solidFill>
                <a:latin typeface="Microsoft YaHei"/>
              </a:rPr>
              <a:t>每一类功能都能在 CLI、Qt 或测试中找到对应入口。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28800"/>
            <a:ext cx="3337560" cy="1234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1993392"/>
            <a:ext cx="295351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42B1FF"/>
                </a:solidFill>
                <a:latin typeface="Microsoft YaHei"/>
              </a:rPr>
              <a:t>DDL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2331720"/>
            <a:ext cx="295351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CREATE/DROP DATABASE
CREATE/DROP/ALTER TABLE
CREATE/DROP INDEX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61688" y="1828800"/>
            <a:ext cx="3337560" cy="1234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2856" y="1993392"/>
            <a:ext cx="295351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2C7BE"/>
                </a:solidFill>
                <a:latin typeface="Microsoft YaHei"/>
              </a:rPr>
              <a:t>DML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2856" y="2331720"/>
            <a:ext cx="295351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INSERT / SELECT / UPDATE / DELETE
JOIN / WHERE / GROUP BY
ORDER BY / LIMIT / DISTINCT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1828800"/>
            <a:ext cx="3337560" cy="1234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6176" y="1993392"/>
            <a:ext cx="295351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B74D"/>
                </a:solidFill>
                <a:latin typeface="Microsoft YaHei"/>
              </a:rPr>
              <a:t>约束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331720"/>
            <a:ext cx="295351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PRIMARY KEY / NOT NULL
UNIQUE / DEFAULT
AUTO_INCREMENT / FOREIGN KEY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520440"/>
            <a:ext cx="3337560" cy="1234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685032"/>
            <a:ext cx="295351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62DC94"/>
                </a:solidFill>
                <a:latin typeface="Microsoft YaHei"/>
              </a:rPr>
              <a:t>可靠性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4023360"/>
            <a:ext cx="295351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BEGIN / COMMIT / ROLLBACK
Undo Log 运行时回滚
WAL 崩溃恢复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61688" y="3520440"/>
            <a:ext cx="3337560" cy="1234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62856" y="3685032"/>
            <a:ext cx="295351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B991FF"/>
                </a:solidFill>
                <a:latin typeface="Microsoft YaHei"/>
              </a:rPr>
              <a:t>安全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2856" y="4023360"/>
            <a:ext cx="295351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CONNECT 用户认证
CREATE/DROP USER
GRANT / REVOKE 权限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5008" y="3520440"/>
            <a:ext cx="3337560" cy="1234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66176" y="3685032"/>
            <a:ext cx="295351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91B4"/>
                </a:solidFill>
                <a:latin typeface="Microsoft YaHei"/>
              </a:rPr>
              <a:t>界面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4023360"/>
            <a:ext cx="295351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对象树 / 表格编辑
SQL 编辑器 / 结果表
Admin 上下文操作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">
            <a:off x="8412480" y="-502920"/>
            <a:ext cx="4389120" cy="2926080"/>
          </a:xfrm>
          <a:prstGeom prst="rtTriangle">
            <a:avLst/>
          </a:prstGeom>
          <a:solidFill>
            <a:srgbClr val="134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20220000">
            <a:off x="9326880" y="4297680"/>
            <a:ext cx="3474720" cy="2926080"/>
          </a:xfrm>
          <a:prstGeom prst="triangle">
            <a:avLst/>
          </a:prstGeom>
          <a:solidFill>
            <a:srgbClr val="238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-640080" y="5257800"/>
            <a:ext cx="4480560" cy="1645920"/>
          </a:xfrm>
          <a:prstGeom prst="parallelogram">
            <a:avLst/>
          </a:prstGeom>
          <a:solidFill>
            <a:srgbClr val="186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 rot="20520000">
            <a:off x="-868680" y="-411480"/>
            <a:ext cx="3108960" cy="2194560"/>
          </a:xfrm>
          <a:prstGeom prst="homePlate">
            <a:avLst/>
          </a:prstGeom>
          <a:solidFill>
            <a:srgbClr val="0F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>
            <a:off x="6400800" y="502920"/>
            <a:ext cx="1920240" cy="1371600"/>
          </a:xfrm>
          <a:prstGeom prst="rtTriangle">
            <a:avLst/>
          </a:prstGeom>
          <a:solidFill>
            <a:srgbClr val="37A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8912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5568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310896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2B1FF"/>
                </a:solidFill>
                <a:latin typeface="Microsoft YaHei"/>
              </a:rPr>
              <a:t>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01984" y="3017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B1CCE5"/>
                </a:solidFill>
                <a:latin typeface="Microsoft YaHe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13232"/>
            <a:ext cx="8961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整体结构：所有入口收束到 DBEngine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353312"/>
            <a:ext cx="8869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B1CCE5"/>
                </a:solidFill>
                <a:latin typeface="Microsoft YaHei"/>
              </a:rPr>
              <a:t>Qt 只做交互和渲染，数据库语义统一由后端解释。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743200"/>
            <a:ext cx="1691640" cy="530352"/>
          </a:xfrm>
          <a:prstGeom prst="roundRect">
            <a:avLst/>
          </a:prstGeom>
          <a:solidFill>
            <a:srgbClr val="145CB2"/>
          </a:solidFill>
          <a:ln>
            <a:solidFill>
              <a:srgbClr val="76B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CLI REPL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886200"/>
            <a:ext cx="1691640" cy="530352"/>
          </a:xfrm>
          <a:prstGeom prst="roundRect">
            <a:avLst/>
          </a:prstGeom>
          <a:solidFill>
            <a:srgbClr val="145CB2"/>
          </a:solidFill>
          <a:ln>
            <a:solidFill>
              <a:srgbClr val="76B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Qt Widgets UI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3310128"/>
            <a:ext cx="1874519" cy="530352"/>
          </a:xfrm>
          <a:prstGeom prst="roundRect">
            <a:avLst/>
          </a:prstGeom>
          <a:solidFill>
            <a:srgbClr val="145CB2"/>
          </a:solidFill>
          <a:ln>
            <a:solidFill>
              <a:srgbClr val="76B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DBEngine::execute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2057400"/>
            <a:ext cx="1600200" cy="530352"/>
          </a:xfrm>
          <a:prstGeom prst="roundRect">
            <a:avLst/>
          </a:prstGeom>
          <a:solidFill>
            <a:srgbClr val="145CB2"/>
          </a:solidFill>
          <a:ln>
            <a:solidFill>
              <a:srgbClr val="76B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Lexer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3310128"/>
            <a:ext cx="1600200" cy="530352"/>
          </a:xfrm>
          <a:prstGeom prst="roundRect">
            <a:avLst/>
          </a:prstGeom>
          <a:solidFill>
            <a:srgbClr val="145CB2"/>
          </a:solidFill>
          <a:ln>
            <a:solidFill>
              <a:srgbClr val="76B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Parser / AST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553712"/>
            <a:ext cx="1600200" cy="530352"/>
          </a:xfrm>
          <a:prstGeom prst="roundRect">
            <a:avLst/>
          </a:prstGeom>
          <a:solidFill>
            <a:srgbClr val="145CB2"/>
          </a:solidFill>
          <a:ln>
            <a:solidFill>
              <a:srgbClr val="76B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Executor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240" y="3310128"/>
            <a:ext cx="1828800" cy="530352"/>
          </a:xfrm>
          <a:prstGeom prst="roundRect">
            <a:avLst/>
          </a:prstGeom>
          <a:solidFill>
            <a:srgbClr val="106896"/>
          </a:solidFill>
          <a:ln>
            <a:solidFill>
              <a:srgbClr val="76B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Storage Managers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57232" y="3310128"/>
            <a:ext cx="1874519" cy="530352"/>
          </a:xfrm>
          <a:prstGeom prst="roundRect">
            <a:avLst/>
          </a:prstGeom>
          <a:solidFill>
            <a:srgbClr val="106896"/>
          </a:solidFill>
          <a:ln>
            <a:solidFill>
              <a:srgbClr val="76B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Files: .mdb / .tdf / .trd / .tid / .wal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68880" y="3008376"/>
            <a:ext cx="685800" cy="502920"/>
          </a:xfrm>
          <a:prstGeom prst="line">
            <a:avLst/>
          </a:prstGeom>
          <a:ln w="20320">
            <a:solidFill>
              <a:srgbClr val="42B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468880" y="3621024"/>
            <a:ext cx="685800" cy="530352"/>
          </a:xfrm>
          <a:prstGeom prst="line">
            <a:avLst/>
          </a:prstGeom>
          <a:ln w="20320">
            <a:solidFill>
              <a:srgbClr val="42B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029200" y="2322576"/>
            <a:ext cx="411480" cy="1225296"/>
          </a:xfrm>
          <a:prstGeom prst="line">
            <a:avLst/>
          </a:prstGeom>
          <a:ln w="20320">
            <a:solidFill>
              <a:srgbClr val="42B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029200" y="3575304"/>
            <a:ext cx="411480" cy="0"/>
          </a:xfrm>
          <a:prstGeom prst="line">
            <a:avLst/>
          </a:prstGeom>
          <a:ln w="20320">
            <a:solidFill>
              <a:srgbClr val="42B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029200" y="3602736"/>
            <a:ext cx="411480" cy="1216152"/>
          </a:xfrm>
          <a:prstGeom prst="line">
            <a:avLst/>
          </a:prstGeom>
          <a:ln w="20320">
            <a:solidFill>
              <a:srgbClr val="42B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040880" y="3575304"/>
            <a:ext cx="594360" cy="1243584"/>
          </a:xfrm>
          <a:prstGeom prst="line">
            <a:avLst/>
          </a:prstGeom>
          <a:ln w="20320">
            <a:solidFill>
              <a:srgbClr val="42B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464040" y="3575304"/>
            <a:ext cx="393192" cy="0"/>
          </a:xfrm>
          <a:prstGeom prst="line">
            <a:avLst/>
          </a:prstGeom>
          <a:ln w="20320">
            <a:solidFill>
              <a:srgbClr val="42B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77240" y="5074920"/>
            <a:ext cx="3246120" cy="749808"/>
          </a:xfrm>
          <a:prstGeom prst="roundRect">
            <a:avLst/>
          </a:prstGeom>
          <a:solidFill>
            <a:srgbClr val="0D2D58"/>
          </a:solidFill>
          <a:ln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" y="519379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42B1FF"/>
                </a:solidFill>
                <a:latin typeface="Microsoft YaHei"/>
              </a:rPr>
              <a:t>统一入口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" y="546811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0">
                <a:solidFill>
                  <a:srgbClr val="E8F4FF"/>
                </a:solidFill>
                <a:latin typeface="Microsoft YaHei"/>
              </a:rPr>
              <a:t>CLI 和 Qt 都只提交 SQL + Session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5074920"/>
            <a:ext cx="3246120" cy="749808"/>
          </a:xfrm>
          <a:prstGeom prst="roundRect">
            <a:avLst/>
          </a:prstGeom>
          <a:solidFill>
            <a:srgbClr val="0D2D58"/>
          </a:solidFill>
          <a:ln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9431" y="519379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22C7BE"/>
                </a:solidFill>
                <a:latin typeface="Microsoft YaHei"/>
              </a:rPr>
              <a:t>分层执行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9431" y="546811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0">
                <a:solidFill>
                  <a:srgbClr val="E8F4FF"/>
                </a:solidFill>
                <a:latin typeface="Microsoft YaHei"/>
              </a:rPr>
              <a:t>Lexer / Parser / Executor 各自只做一件事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5074920"/>
            <a:ext cx="3246120" cy="749808"/>
          </a:xfrm>
          <a:prstGeom prst="roundRect">
            <a:avLst/>
          </a:prstGeom>
          <a:solidFill>
            <a:srgbClr val="0D2D58"/>
          </a:solidFill>
          <a:ln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57031" y="519379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B74D"/>
                </a:solidFill>
                <a:latin typeface="Microsoft YaHei"/>
              </a:rPr>
              <a:t>一致输出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1" y="546811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0">
                <a:solidFill>
                  <a:srgbClr val="E8F4FF"/>
                </a:solidFill>
                <a:latin typeface="Microsoft YaHei"/>
              </a:rPr>
              <a:t>所有结果统一封装为 QueryResult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053328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60" b="0">
                <a:solidFill>
                  <a:srgbClr val="B1CCE5"/>
                </a:solidFill>
                <a:latin typeface="Microsoft YaHei"/>
              </a:rPr>
              <a:t>代码对应：src/engine/DBEngine.cpp、src/engine/executor/Executor.cpp、src/ui/QtSessionAdapter.cpp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">
            <a:off x="8412480" y="-502920"/>
            <a:ext cx="4389120" cy="2926080"/>
          </a:xfrm>
          <a:prstGeom prst="rtTriangle">
            <a:avLst/>
          </a:prstGeom>
          <a:solidFill>
            <a:srgbClr val="134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20220000">
            <a:off x="9326880" y="4297680"/>
            <a:ext cx="3474720" cy="2926080"/>
          </a:xfrm>
          <a:prstGeom prst="triangle">
            <a:avLst/>
          </a:prstGeom>
          <a:solidFill>
            <a:srgbClr val="238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-640080" y="5257800"/>
            <a:ext cx="4480560" cy="1645920"/>
          </a:xfrm>
          <a:prstGeom prst="parallelogram">
            <a:avLst/>
          </a:prstGeom>
          <a:solidFill>
            <a:srgbClr val="186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 rot="20520000">
            <a:off x="-868680" y="-411480"/>
            <a:ext cx="3108960" cy="2194560"/>
          </a:xfrm>
          <a:prstGeom prst="homePlate">
            <a:avLst/>
          </a:prstGeom>
          <a:solidFill>
            <a:srgbClr val="0F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>
            <a:off x="6400800" y="502920"/>
            <a:ext cx="1920240" cy="1371600"/>
          </a:xfrm>
          <a:prstGeom prst="rtTriangle">
            <a:avLst/>
          </a:prstGeom>
          <a:solidFill>
            <a:srgbClr val="37A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8912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5568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310896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2B1FF"/>
                </a:solidFill>
                <a:latin typeface="Microsoft YaHei"/>
              </a:rPr>
              <a:t>CODE: DBENGINE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01984" y="301752"/>
            <a:ext cx="3200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B1CCE5"/>
                </a:solidFill>
                <a:latin typeface="Microsoft YaHe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13232"/>
            <a:ext cx="89611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统一入口：SQL 先转 Token，再转 AST，最后执行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353312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B1CCE5"/>
                </a:solidFill>
                <a:latin typeface="Microsoft YaHei"/>
              </a:rPr>
              <a:t>这页解释为什么 CLI 和 Qt 的行为一致。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1828800"/>
            <a:ext cx="4663440" cy="2148840"/>
          </a:xfrm>
          <a:prstGeom prst="roundRect">
            <a:avLst/>
          </a:prstGeom>
          <a:solidFill>
            <a:srgbClr val="03152D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1956816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>
                <a:solidFill>
                  <a:srgbClr val="42B1FF"/>
                </a:solidFill>
                <a:latin typeface="Consolas"/>
              </a:rPr>
              <a:t>src/engine/DBEngine.cpp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2212848"/>
            <a:ext cx="4297680" cy="167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19">
                <a:solidFill>
                  <a:srgbClr val="DAECFF"/>
                </a:solidFill>
                <a:latin typeface="Consolas"/>
              </a:rPr>
              <a:t>QueryResult DBEngine::execute(const std::string&amp; sql, Session&amp; session) {
    auto tokens = impl_-&gt;lexer.tokenize(sql);
    auto ast    = impl_-&gt;parser.parse(tokens);
    auto result = impl_-&gt;executor.execute(*ast, session);
    result.elapsedMs = ...;
    return result;
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1874519"/>
            <a:ext cx="512064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320">
                <a:solidFill>
                  <a:srgbClr val="E8F4FF"/>
                </a:solidFill>
                <a:latin typeface="Microsoft YaHei"/>
              </a:defRPr>
            </a:pPr>
            <a:r>
              <a:t>Lexer 只负责“SQL 字符串 → Token 流”。</a:t>
            </a:r>
          </a:p>
          <a:p>
            <a:pPr>
              <a:spcAft>
                <a:spcPts val="500"/>
              </a:spcAft>
              <a:defRPr sz="1320">
                <a:solidFill>
                  <a:srgbClr val="E8F4FF"/>
                </a:solidFill>
                <a:latin typeface="Microsoft YaHei"/>
              </a:defRPr>
            </a:pPr>
            <a:r>
              <a:t>Parser 只负责“Token 流 → AST 语义节点”。</a:t>
            </a:r>
          </a:p>
          <a:p>
            <a:pPr>
              <a:spcAft>
                <a:spcPts val="500"/>
              </a:spcAft>
              <a:defRPr sz="1320">
                <a:solidFill>
                  <a:srgbClr val="E8F4FF"/>
                </a:solidFill>
                <a:latin typeface="Microsoft YaHei"/>
              </a:defRPr>
            </a:pPr>
            <a:r>
              <a:t>Executor 只看 AST 和 Session，因此 CLI / Qt 入口天然一致。</a:t>
            </a:r>
          </a:p>
          <a:p>
            <a:pPr>
              <a:spcAft>
                <a:spcPts val="500"/>
              </a:spcAft>
              <a:defRPr sz="1320">
                <a:solidFill>
                  <a:srgbClr val="E8F4FF"/>
                </a:solidFill>
                <a:latin typeface="Microsoft YaHei"/>
              </a:defRPr>
            </a:pPr>
            <a:r>
              <a:t>异常统一转换为 QueryResult::err，前端只处理结果，不处理后端细节。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709160"/>
            <a:ext cx="3337560" cy="7772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4873752"/>
            <a:ext cx="295351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42B1FF"/>
                </a:solidFill>
                <a:latin typeface="Microsoft YaHei"/>
              </a:rPr>
              <a:t>输入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5212080"/>
            <a:ext cx="29535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SELECT u.name, o.amount FROM users u, orders o 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4709160"/>
            <a:ext cx="3337560" cy="7772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4873752"/>
            <a:ext cx="295351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2C7BE"/>
                </a:solidFill>
                <a:latin typeface="Microsoft YaHei"/>
              </a:rPr>
              <a:t>中间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5212080"/>
            <a:ext cx="29535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SelectNode: fromTables / columns / where / orderBy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4709160"/>
            <a:ext cx="3337560" cy="7772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22208" y="4873752"/>
            <a:ext cx="295351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B74D"/>
                </a:solidFill>
                <a:latin typeface="Microsoft YaHei"/>
              </a:rPr>
              <a:t>输出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5212080"/>
            <a:ext cx="29535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QueryResult: columns / rows / affectedRows / elapsedMs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">
            <a:off x="8412480" y="-502920"/>
            <a:ext cx="4389120" cy="2926080"/>
          </a:xfrm>
          <a:prstGeom prst="rtTriangle">
            <a:avLst/>
          </a:prstGeom>
          <a:solidFill>
            <a:srgbClr val="134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20220000">
            <a:off x="9326880" y="4297680"/>
            <a:ext cx="3474720" cy="2926080"/>
          </a:xfrm>
          <a:prstGeom prst="triangle">
            <a:avLst/>
          </a:prstGeom>
          <a:solidFill>
            <a:srgbClr val="238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-640080" y="5257800"/>
            <a:ext cx="4480560" cy="1645920"/>
          </a:xfrm>
          <a:prstGeom prst="parallelogram">
            <a:avLst/>
          </a:prstGeom>
          <a:solidFill>
            <a:srgbClr val="186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 rot="20520000">
            <a:off x="-868680" y="-411480"/>
            <a:ext cx="3108960" cy="2194560"/>
          </a:xfrm>
          <a:prstGeom prst="homePlate">
            <a:avLst/>
          </a:prstGeom>
          <a:solidFill>
            <a:srgbClr val="0F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>
            <a:off x="6400800" y="502920"/>
            <a:ext cx="1920240" cy="1371600"/>
          </a:xfrm>
          <a:prstGeom prst="rtTriangle">
            <a:avLst/>
          </a:prstGeom>
          <a:solidFill>
            <a:srgbClr val="37A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8912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5568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310896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2B1FF"/>
                </a:solidFill>
                <a:latin typeface="Microsoft YaHei"/>
              </a:rPr>
              <a:t>SELECT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01984" y="301752"/>
            <a:ext cx="3200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B1CCE5"/>
                </a:solidFill>
                <a:latin typeface="Microsoft YaHei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13232"/>
            <a:ext cx="89611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SELECT 调用链：权限检查、扫描、求值、投影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353312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B1CCE5"/>
                </a:solidFill>
                <a:latin typeface="Microsoft YaHei"/>
              </a:rPr>
              <a:t>以联表查询为例，说明后端不是静态展示，而是真执行。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1975104" cy="1234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039111"/>
            <a:ext cx="1591056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42B1FF"/>
                </a:solidFill>
                <a:latin typeface="Microsoft YaHei"/>
              </a:rPr>
              <a:t>1 解析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2377439"/>
            <a:ext cx="159105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Parser::parseSelect()
识别列、表别名、WHERE、ORDER BY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33472" y="2487167"/>
            <a:ext cx="283464" cy="0"/>
          </a:xfrm>
          <a:prstGeom prst="line">
            <a:avLst/>
          </a:prstGeom>
          <a:ln w="20320">
            <a:solidFill>
              <a:srgbClr val="42B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926080" y="1874519"/>
            <a:ext cx="1975104" cy="1234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7248" y="2039111"/>
            <a:ext cx="1591056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2C7BE"/>
                </a:solidFill>
                <a:latin typeface="Microsoft YaHei"/>
              </a:rPr>
              <a:t>2 检查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27248" y="2377439"/>
            <a:ext cx="159105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Executor::checkPermission()
每张表都检查 SELECT 权限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01184" y="2487167"/>
            <a:ext cx="283464" cy="0"/>
          </a:xfrm>
          <a:prstGeom prst="line">
            <a:avLst/>
          </a:prstGeom>
          <a:ln w="20320">
            <a:solidFill>
              <a:srgbClr val="42B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193792" y="1874519"/>
            <a:ext cx="1975104" cy="1234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2039111"/>
            <a:ext cx="1591056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B74D"/>
                </a:solidFill>
                <a:latin typeface="Microsoft YaHei"/>
              </a:rPr>
              <a:t>3 扫描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377439"/>
            <a:ext cx="159105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RecordManager::scan()
读出表记录参与组合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68896" y="2487167"/>
            <a:ext cx="283464" cy="0"/>
          </a:xfrm>
          <a:prstGeom prst="line">
            <a:avLst/>
          </a:prstGeom>
          <a:ln w="20320">
            <a:solidFill>
              <a:srgbClr val="42B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461504" y="1874519"/>
            <a:ext cx="1975104" cy="1234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62672" y="2039111"/>
            <a:ext cx="1591056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62DC94"/>
                </a:solidFill>
                <a:latin typeface="Microsoft YaHei"/>
              </a:rPr>
              <a:t>4 求值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2" y="2377439"/>
            <a:ext cx="159105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ExprEvaluator::evaluate()
支持 alias.column 与列间比较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436608" y="2487167"/>
            <a:ext cx="283464" cy="0"/>
          </a:xfrm>
          <a:prstGeom prst="line">
            <a:avLst/>
          </a:prstGeom>
          <a:ln w="20320">
            <a:solidFill>
              <a:srgbClr val="42B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729216" y="1874519"/>
            <a:ext cx="1975104" cy="123444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30384" y="2039111"/>
            <a:ext cx="1591056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B991FF"/>
                </a:solidFill>
                <a:latin typeface="Microsoft YaHei"/>
              </a:rPr>
              <a:t>5 输出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0384" y="2377439"/>
            <a:ext cx="159105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投影 / 排序 / 聚合 / LIMIT
封装 QueryResult 给 UI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3886200"/>
            <a:ext cx="5486400" cy="1874519"/>
          </a:xfrm>
          <a:prstGeom prst="roundRect">
            <a:avLst/>
          </a:prstGeom>
          <a:solidFill>
            <a:srgbClr val="03152D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4014216"/>
            <a:ext cx="51206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>
                <a:solidFill>
                  <a:srgbClr val="42B1FF"/>
                </a:solidFill>
                <a:latin typeface="Consolas"/>
              </a:rPr>
              <a:t>src/engine/executor/Executor.cpp · execSelect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" y="4270248"/>
            <a:ext cx="5120640" cy="13990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19">
                <a:solidFill>
                  <a:srgbClr val="DAECFF"/>
                </a:solidFill>
                <a:latin typeface="Consolas"/>
              </a:rPr>
              <a:t>for (const auto&amp; tref : n.fromTables) {
    ti.db = tref.database.empty() ? resolveDb("", s) : tref.database;
    ti.name = tref.table;
    ti.alias = tref.alias.empty() ? tref.table : tref.alias;
    checkPermission(s, ti.db, ti.name, Privilege::SELECT);
    ti.def = *tblMgr_.describeTable(ti.db, ti.name);
    ti.rawRows = recMgr_.scan(ti.db, ti.name);
}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37960" y="3886200"/>
            <a:ext cx="4526280" cy="1874519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9128" y="4050792"/>
            <a:ext cx="41422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B74D"/>
                </a:solidFill>
                <a:latin typeface="Microsoft YaHei"/>
              </a:rPr>
              <a:t>演示 SQL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9128" y="4389120"/>
            <a:ext cx="4142232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SELECT u.name, o.amount
FROM users u, orders o
WHERE u.id = o.user_id AND o.amount &gt; 100
ORDER BY o.amount DESC;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">
            <a:off x="8412480" y="-502920"/>
            <a:ext cx="4389120" cy="2926080"/>
          </a:xfrm>
          <a:prstGeom prst="rtTriangle">
            <a:avLst/>
          </a:prstGeom>
          <a:solidFill>
            <a:srgbClr val="134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20220000">
            <a:off x="9326880" y="4297680"/>
            <a:ext cx="3474720" cy="2926080"/>
          </a:xfrm>
          <a:prstGeom prst="triangle">
            <a:avLst/>
          </a:prstGeom>
          <a:solidFill>
            <a:srgbClr val="238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-640080" y="5257800"/>
            <a:ext cx="4480560" cy="1645920"/>
          </a:xfrm>
          <a:prstGeom prst="parallelogram">
            <a:avLst/>
          </a:prstGeom>
          <a:solidFill>
            <a:srgbClr val="186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 rot="20520000">
            <a:off x="-868680" y="-411480"/>
            <a:ext cx="3108960" cy="2194560"/>
          </a:xfrm>
          <a:prstGeom prst="homePlate">
            <a:avLst/>
          </a:prstGeom>
          <a:solidFill>
            <a:srgbClr val="0F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>
            <a:off x="6400800" y="502920"/>
            <a:ext cx="1920240" cy="1371600"/>
          </a:xfrm>
          <a:prstGeom prst="rtTriangle">
            <a:avLst/>
          </a:prstGeom>
          <a:solidFill>
            <a:srgbClr val="37A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8912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5568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310896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2B1FF"/>
                </a:solidFill>
                <a:latin typeface="Microsoft YaHei"/>
              </a:rPr>
              <a:t>DEMO: QT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01984" y="301752"/>
            <a:ext cx="3200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B1CCE5"/>
                </a:solidFill>
                <a:latin typeface="Microsoft YaHei"/>
              </a:rPr>
              <a:t>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13232"/>
            <a:ext cx="89611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演示路径：对象树聚焦 + 表格化操作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353312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B1CCE5"/>
                </a:solidFill>
                <a:latin typeface="Microsoft YaHei"/>
              </a:rPr>
              <a:t>界面演示证明数据库能力能被普通用户完成，而不是只靠命令行。</a:t>
            </a:r>
          </a:p>
        </p:txBody>
      </p:sp>
      <p:pic>
        <p:nvPicPr>
          <p:cNvPr id="16" name="Picture 15" descr="qt_admi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83080"/>
            <a:ext cx="5806440" cy="326612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720840" y="1783080"/>
            <a:ext cx="4297680" cy="9144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22008" y="1947672"/>
            <a:ext cx="39136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42B1FF"/>
                </a:solidFill>
                <a:latin typeface="Microsoft YaHei"/>
              </a:rPr>
              <a:t>演示 1：登录与目录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2286000"/>
            <a:ext cx="39136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SessionPanel 输入 root/root，刷新数据库、表、列、索引和用户目录。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2880360"/>
            <a:ext cx="4297680" cy="9144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22008" y="3044952"/>
            <a:ext cx="39136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2C7BE"/>
                </a:solidFill>
                <a:latin typeface="Microsoft YaHei"/>
              </a:rPr>
              <a:t>演示 2：建表/改表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2008" y="3383280"/>
            <a:ext cx="39136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Admin Object/Structure 页用字段表格生成 DDL，减少现场手写 SQL。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3977639"/>
            <a:ext cx="4297680" cy="9144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8" y="4142231"/>
            <a:ext cx="39136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B74D"/>
                </a:solidFill>
                <a:latin typeface="Microsoft YaHei"/>
              </a:rPr>
              <a:t>演示 3：权限验证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22008" y="4480559"/>
            <a:ext cx="39136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Users 页勾选 SELECT/INSERT/UPDATE/DELETE，切换普通用户验证权限效果。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5559552"/>
            <a:ext cx="4114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B1CCE5"/>
                </a:solidFill>
                <a:latin typeface="Microsoft YaHei"/>
              </a:rPr>
              <a:t>录屏：demos/qt_admin_workflow_demo_fullscreen.mp4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">
            <a:off x="8412480" y="-502920"/>
            <a:ext cx="4389120" cy="2926080"/>
          </a:xfrm>
          <a:prstGeom prst="rtTriangle">
            <a:avLst/>
          </a:prstGeom>
          <a:solidFill>
            <a:srgbClr val="134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20220000">
            <a:off x="9326880" y="4297680"/>
            <a:ext cx="3474720" cy="2926080"/>
          </a:xfrm>
          <a:prstGeom prst="triangle">
            <a:avLst/>
          </a:prstGeom>
          <a:solidFill>
            <a:srgbClr val="238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-640080" y="5257800"/>
            <a:ext cx="4480560" cy="1645920"/>
          </a:xfrm>
          <a:prstGeom prst="parallelogram">
            <a:avLst/>
          </a:prstGeom>
          <a:solidFill>
            <a:srgbClr val="186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 rot="20520000">
            <a:off x="-868680" y="-411480"/>
            <a:ext cx="3108960" cy="2194560"/>
          </a:xfrm>
          <a:prstGeom prst="homePlate">
            <a:avLst/>
          </a:prstGeom>
          <a:solidFill>
            <a:srgbClr val="0F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>
            <a:off x="6400800" y="502920"/>
            <a:ext cx="1920240" cy="1371600"/>
          </a:xfrm>
          <a:prstGeom prst="rtTriangle">
            <a:avLst/>
          </a:prstGeom>
          <a:solidFill>
            <a:srgbClr val="37A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8912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5568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310896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2B1FF"/>
                </a:solidFill>
                <a:latin typeface="Microsoft YaHei"/>
              </a:rPr>
              <a:t>CODE: QT 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01984" y="301752"/>
            <a:ext cx="3200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B1CCE5"/>
                </a:solidFill>
                <a:latin typeface="Microsoft YaHei"/>
              </a:rPr>
              <a:t>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13232"/>
            <a:ext cx="89611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Qt 不绕过后端：所有按钮最终还是 execute(sql)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353312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B1CCE5"/>
                </a:solidFill>
                <a:latin typeface="Microsoft YaHei"/>
              </a:rPr>
              <a:t>这是前后端边界最关键的一点。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1810512"/>
            <a:ext cx="5212080" cy="2331720"/>
          </a:xfrm>
          <a:prstGeom prst="roundRect">
            <a:avLst/>
          </a:prstGeom>
          <a:solidFill>
            <a:srgbClr val="03152D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1938528"/>
            <a:ext cx="4846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>
                <a:solidFill>
                  <a:srgbClr val="42B1FF"/>
                </a:solidFill>
                <a:latin typeface="Consolas"/>
              </a:rPr>
              <a:t>src/ui/QtSessionAdapter.cpp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2194560"/>
            <a:ext cx="4846320" cy="1856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19">
                <a:solidFill>
                  <a:srgbClr val="DAECFF"/>
                </a:solidFill>
                <a:latin typeface="Consolas"/>
              </a:rPr>
              <a:t>void QtSessionAdapter::executeSql(const QString &amp;sql)
{
    QueryResult result = engine_.execute(sql.toStdString(), session_);
    emit resultReady(result);
    emitSessionChanged();
}
QueryResult result = engine_.execute("SELECT * FROM " + table, session_);
emit tableReady(database, table, result);</a:t>
            </a:r>
          </a:p>
        </p:txBody>
      </p:sp>
      <p:pic>
        <p:nvPicPr>
          <p:cNvPr id="19" name="Picture 18" descr="qt_tabl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10512"/>
            <a:ext cx="4800600" cy="270033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709160"/>
            <a:ext cx="52120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E8F4FF"/>
                </a:solidFill>
                <a:latin typeface="Microsoft YaHei"/>
              </a:defRPr>
            </a:pPr>
            <a:r>
              <a:t>对象树点击只改变 UI 焦点，不直接读写 data/。</a:t>
            </a:r>
          </a:p>
          <a:p>
            <a:pPr>
              <a:spcAft>
                <a:spcPts val="500"/>
              </a:spcAft>
              <a:defRPr sz="1250">
                <a:solidFill>
                  <a:srgbClr val="E8F4FF"/>
                </a:solidFill>
                <a:latin typeface="Microsoft YaHei"/>
              </a:defRPr>
            </a:pPr>
            <a:r>
              <a:t>表格新增/删除/保存会生成 SQL，再交给 DBEngine。</a:t>
            </a:r>
          </a:p>
          <a:p>
            <a:pPr>
              <a:spcAft>
                <a:spcPts val="500"/>
              </a:spcAft>
              <a:defRPr sz="1250">
                <a:solidFill>
                  <a:srgbClr val="E8F4FF"/>
                </a:solidFill>
                <a:latin typeface="Microsoft YaHei"/>
              </a:defRPr>
            </a:pPr>
            <a:r>
              <a:t>后端错误通过 QueryResult 回显，权限和约束仍由 Executor 判断。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">
            <a:off x="8412480" y="-502920"/>
            <a:ext cx="4389120" cy="2926080"/>
          </a:xfrm>
          <a:prstGeom prst="rtTriangle">
            <a:avLst/>
          </a:prstGeom>
          <a:solidFill>
            <a:srgbClr val="134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20220000">
            <a:off x="9326880" y="4297680"/>
            <a:ext cx="3474720" cy="2926080"/>
          </a:xfrm>
          <a:prstGeom prst="triangle">
            <a:avLst/>
          </a:prstGeom>
          <a:solidFill>
            <a:srgbClr val="238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-640080" y="5257800"/>
            <a:ext cx="4480560" cy="1645920"/>
          </a:xfrm>
          <a:prstGeom prst="parallelogram">
            <a:avLst/>
          </a:prstGeom>
          <a:solidFill>
            <a:srgbClr val="186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 rot="20520000">
            <a:off x="-868680" y="-411480"/>
            <a:ext cx="3108960" cy="2194560"/>
          </a:xfrm>
          <a:prstGeom prst="homePlate">
            <a:avLst/>
          </a:prstGeom>
          <a:solidFill>
            <a:srgbClr val="0F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>
            <a:off x="6400800" y="502920"/>
            <a:ext cx="1920240" cy="1371600"/>
          </a:xfrm>
          <a:prstGeom prst="rtTriangle">
            <a:avLst/>
          </a:prstGeom>
          <a:solidFill>
            <a:srgbClr val="37A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8912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5568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310896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2B1FF"/>
                </a:solidFill>
                <a:latin typeface="Microsoft YaHei"/>
              </a:rPr>
              <a:t>STORAGE &amp; WAL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01984" y="301752"/>
            <a:ext cx="3200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B1CCE5"/>
                </a:solidFill>
                <a:latin typeface="Microsoft YaHei"/>
              </a:rPr>
              <a:t>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13232"/>
            <a:ext cx="89611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存储与可靠性：文件持久化 + B 树索引 + WAL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353312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B1CCE5"/>
                </a:solidFill>
                <a:latin typeface="Microsoft YaHei"/>
              </a:rPr>
              <a:t>用文件模拟 DBMS 的系统目录、表定义、记录、索引和日志。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1783080"/>
            <a:ext cx="1901952" cy="9144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947672"/>
            <a:ext cx="1517904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42B1FF"/>
                </a:solidFill>
                <a:latin typeface="Microsoft YaHei"/>
              </a:rPr>
              <a:t>.mdb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286000"/>
            <a:ext cx="151790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系统/用户元信息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1783080"/>
            <a:ext cx="1901952" cy="9144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27248" y="1947672"/>
            <a:ext cx="1517904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2C7BE"/>
                </a:solidFill>
                <a:latin typeface="Microsoft YaHei"/>
              </a:rPr>
              <a:t>.tdf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27248" y="2286000"/>
            <a:ext cx="151790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表结构与约束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38928" y="1783080"/>
            <a:ext cx="1901952" cy="9144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096" y="1947672"/>
            <a:ext cx="1517904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B74D"/>
                </a:solidFill>
                <a:latin typeface="Microsoft YaHei"/>
              </a:rPr>
              <a:t>.trd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0096" y="2286000"/>
            <a:ext cx="151790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记录数据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51775" y="1783080"/>
            <a:ext cx="1901952" cy="9144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52943" y="1947672"/>
            <a:ext cx="1517904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62DC94"/>
                </a:solidFill>
                <a:latin typeface="Microsoft YaHei"/>
              </a:rPr>
              <a:t>.tid/.tix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2943" y="2286000"/>
            <a:ext cx="151790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索引元信息与 B 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64624" y="1783080"/>
            <a:ext cx="1901952" cy="9144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65792" y="1947672"/>
            <a:ext cx="1517904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B991FF"/>
                </a:solidFill>
                <a:latin typeface="Microsoft YaHei"/>
              </a:rPr>
              <a:t>wal.log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2" y="2286000"/>
            <a:ext cx="151790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事务 Undo 与崩溃恢复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246120"/>
            <a:ext cx="5074920" cy="1965960"/>
          </a:xfrm>
          <a:prstGeom prst="roundRect">
            <a:avLst/>
          </a:prstGeom>
          <a:solidFill>
            <a:srgbClr val="03152D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3374136"/>
            <a:ext cx="47091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>
                <a:solidFill>
                  <a:srgbClr val="42B1FF"/>
                </a:solidFill>
                <a:latin typeface="Consolas"/>
              </a:rPr>
              <a:t>src/engine/storage/WalManager.h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3630168"/>
            <a:ext cx="4709160" cy="1490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19">
                <a:solidFill>
                  <a:srgbClr val="DAECFF"/>
                </a:solidFill>
                <a:latin typeface="Consolas"/>
              </a:rPr>
              <a:t>BEGIN|&lt;txId&gt;
INS|&lt;txId&gt;|&lt;db&gt;|&lt;table&gt;|&lt;offset&gt;
UPD|&lt;txId&gt;|&lt;db&gt;|&lt;table&gt;|&lt;offset&gt;|&lt;encoded_record&gt;
DEL|&lt;txId&gt;|&lt;db&gt;|&lt;table&gt;|&lt;offset&gt;|&lt;encoded_record&gt;
CMT|&lt;txId&gt;
RBK|&lt;txId&gt;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246120"/>
            <a:ext cx="4800600" cy="196596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3368" y="3410712"/>
            <a:ext cx="441655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62DC94"/>
                </a:solidFill>
                <a:latin typeface="Microsoft YaHei"/>
              </a:rPr>
              <a:t>事务恢复机制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3749040"/>
            <a:ext cx="4416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事务内 DML 先写 WAL，再改数据文件。进程异常退出后，新引擎启动调用 WalManager::recover()，找到只有 BEGIN 没有 CMT/RBK 的事务，并按逆序回放 Undo。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">
            <a:off x="8412480" y="-502920"/>
            <a:ext cx="4389120" cy="2926080"/>
          </a:xfrm>
          <a:prstGeom prst="rtTriangle">
            <a:avLst/>
          </a:prstGeom>
          <a:solidFill>
            <a:srgbClr val="134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20220000">
            <a:off x="9326880" y="4297680"/>
            <a:ext cx="3474720" cy="2926080"/>
          </a:xfrm>
          <a:prstGeom prst="triangle">
            <a:avLst/>
          </a:prstGeom>
          <a:solidFill>
            <a:srgbClr val="238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-640080" y="5257800"/>
            <a:ext cx="4480560" cy="1645920"/>
          </a:xfrm>
          <a:prstGeom prst="parallelogram">
            <a:avLst/>
          </a:prstGeom>
          <a:solidFill>
            <a:srgbClr val="186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 rot="20520000">
            <a:off x="-868680" y="-411480"/>
            <a:ext cx="3108960" cy="2194560"/>
          </a:xfrm>
          <a:prstGeom prst="homePlate">
            <a:avLst/>
          </a:prstGeom>
          <a:solidFill>
            <a:srgbClr val="0F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>
            <a:off x="6400800" y="502920"/>
            <a:ext cx="1920240" cy="1371600"/>
          </a:xfrm>
          <a:prstGeom prst="rtTriangle">
            <a:avLst/>
          </a:prstGeom>
          <a:solidFill>
            <a:srgbClr val="37A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8912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5568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310896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2B1FF"/>
                </a:solidFill>
                <a:latin typeface="Microsoft YaHei"/>
              </a:rPr>
              <a:t>SECURITY &amp; ADMIN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01984" y="301752"/>
            <a:ext cx="3200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B1CCE5"/>
                </a:solidFill>
                <a:latin typeface="Microsoft YaHe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13232"/>
            <a:ext cx="89611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权限管理：演示按钮背后是真正的 GRANT / REVOKE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353312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B1CCE5"/>
                </a:solidFill>
                <a:latin typeface="Microsoft YaHei"/>
              </a:rPr>
              <a:t>普通用户不能越权，root 才能进行用户与权限管理。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1828800"/>
            <a:ext cx="5394960" cy="1920240"/>
          </a:xfrm>
          <a:prstGeom prst="roundRect">
            <a:avLst/>
          </a:prstGeom>
          <a:solidFill>
            <a:srgbClr val="03152D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1956816"/>
            <a:ext cx="50292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>
                <a:solidFill>
                  <a:srgbClr val="42B1FF"/>
                </a:solidFill>
                <a:latin typeface="Consolas"/>
              </a:rPr>
              <a:t>src/ui/AdminPanel.cpp · Executor.cpp · tests/test_security.cpp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2212848"/>
            <a:ext cx="5029200" cy="14447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19">
                <a:solidFill>
                  <a:srgbClr val="DAECFF"/>
                </a:solidFill>
                <a:latin typeface="Consolas"/>
              </a:rPr>
              <a:t>emitIfNotEmpty(QStringLiteral("GRANT %1 ON %2.%3 TO %4")
    .arg(privilegeList, database, table, user));
checkPermission(s, ti.db, ti.name, Privilege::SELECT);
execErr("GRANT ALL ON *.* TO 'alice'", aliceSess);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1828800"/>
            <a:ext cx="4526280" cy="82296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1993392"/>
            <a:ext cx="41422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42B1FF"/>
                </a:solidFill>
                <a:latin typeface="Microsoft YaHei"/>
              </a:rPr>
              <a:t>演示验证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2331720"/>
            <a:ext cx="41422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root 创建 alice → 授权 SELECT/INSERT → alice 查询成功 → 回收权限后再次查询失败。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2880360"/>
            <a:ext cx="4526280" cy="82296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3044952"/>
            <a:ext cx="41422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2C7BE"/>
                </a:solidFill>
                <a:latin typeface="Microsoft YaHei"/>
              </a:rPr>
              <a:t>风险控制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3383280"/>
            <a:ext cx="41422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Qt 面板只是生成 SQL；真实权限检查在 Executor 内部执行，避免 UI 层绕过规则。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3931920"/>
            <a:ext cx="4526280" cy="82296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47688" y="4096512"/>
            <a:ext cx="41422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B74D"/>
                </a:solidFill>
                <a:latin typeface="Microsoft YaHei"/>
              </a:rPr>
              <a:t>测试覆盖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7688" y="4434840"/>
            <a:ext cx="41422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tests/test_security.cpp 覆盖未授权拒绝、授权后允许、回收后拒绝、普通用户越权 GRANT 失败。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">
            <a:off x="8412480" y="-502920"/>
            <a:ext cx="4389120" cy="2926080"/>
          </a:xfrm>
          <a:prstGeom prst="rtTriangle">
            <a:avLst/>
          </a:prstGeom>
          <a:solidFill>
            <a:srgbClr val="134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20220000">
            <a:off x="9326880" y="4297680"/>
            <a:ext cx="3474720" cy="2926080"/>
          </a:xfrm>
          <a:prstGeom prst="triangle">
            <a:avLst/>
          </a:prstGeom>
          <a:solidFill>
            <a:srgbClr val="238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-640080" y="5257800"/>
            <a:ext cx="4480560" cy="1645920"/>
          </a:xfrm>
          <a:prstGeom prst="parallelogram">
            <a:avLst/>
          </a:prstGeom>
          <a:solidFill>
            <a:srgbClr val="186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 rot="20520000">
            <a:off x="-868680" y="-411480"/>
            <a:ext cx="3108960" cy="2194560"/>
          </a:xfrm>
          <a:prstGeom prst="homePlate">
            <a:avLst/>
          </a:prstGeom>
          <a:solidFill>
            <a:srgbClr val="0F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>
            <a:off x="6400800" y="502920"/>
            <a:ext cx="1920240" cy="1371600"/>
          </a:xfrm>
          <a:prstGeom prst="rtTriangle">
            <a:avLst/>
          </a:prstGeom>
          <a:solidFill>
            <a:srgbClr val="37A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8912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5568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310896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2B1FF"/>
                </a:solidFill>
                <a:latin typeface="Microsoft YaHei"/>
              </a:rPr>
              <a:t>TESTING &amp;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01984" y="301752"/>
            <a:ext cx="3200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B1CCE5"/>
                </a:solidFill>
                <a:latin typeface="Microsoft YaHei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13232"/>
            <a:ext cx="89611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测试交付：可运行、可验证、可演示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353312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B1CCE5"/>
                </a:solidFill>
                <a:latin typeface="Microsoft YaHei"/>
              </a:rPr>
              <a:t>最终材料不只讲设计，也能现场证明结果。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1828800"/>
            <a:ext cx="2331720" cy="11430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993392"/>
            <a:ext cx="194767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62DC94"/>
                </a:solidFill>
                <a:latin typeface="Microsoft YaHe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331720"/>
            <a:ext cx="194767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CTest 测试全部通过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56432" y="1828800"/>
            <a:ext cx="2331720" cy="11430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1993392"/>
            <a:ext cx="194767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42B1FF"/>
                </a:solidFill>
                <a:latin typeface="Microsoft YaHei"/>
              </a:rPr>
              <a:t>Qt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331720"/>
            <a:ext cx="194767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UI 冒烟测试通过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1828800"/>
            <a:ext cx="2331720" cy="11430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993392"/>
            <a:ext cx="194767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B74D"/>
                </a:solidFill>
                <a:latin typeface="Microsoft YaHei"/>
              </a:rPr>
              <a:t>MP4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31720"/>
            <a:ext cx="194767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全屏演示录屏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2832" y="1828800"/>
            <a:ext cx="2331720" cy="11430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1993392"/>
            <a:ext cx="194767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2C7BE"/>
                </a:solidFill>
                <a:latin typeface="Microsoft YaHe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31720"/>
            <a:ext cx="194767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最终报告 + 用户手册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3566160"/>
            <a:ext cx="5212080" cy="1645920"/>
          </a:xfrm>
          <a:prstGeom prst="roundRect">
            <a:avLst/>
          </a:prstGeom>
          <a:solidFill>
            <a:srgbClr val="03152D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3694176"/>
            <a:ext cx="4846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>
                <a:solidFill>
                  <a:srgbClr val="42B1FF"/>
                </a:solidFill>
                <a:latin typeface="Consolas"/>
              </a:rPr>
              <a:t>docs/final/05_测试报告.md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3950208"/>
            <a:ext cx="4846320" cy="11704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19">
                <a:solidFill>
                  <a:srgbClr val="DAECFF"/>
                </a:solidFill>
                <a:latin typeface="Consolas"/>
              </a:rPr>
              <a:t>cmake --build --preset windows-msys2-ucrt64
ctest --test-dir build-windows --output-on-failure
$env:QT_QPA_PLATFORM='offscreen'
.\build-qt-tests\test_qt_ui.exe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520440"/>
            <a:ext cx="45720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220">
                <a:solidFill>
                  <a:srgbClr val="E8F4FF"/>
                </a:solidFill>
                <a:latin typeface="Microsoft YaHei"/>
              </a:defRPr>
            </a:pPr>
            <a:r>
              <a:t>解析：Lexer / Parser / AST 节点生成。</a:t>
            </a:r>
          </a:p>
          <a:p>
            <a:pPr>
              <a:spcAft>
                <a:spcPts val="500"/>
              </a:spcAft>
              <a:defRPr sz="1220">
                <a:solidFill>
                  <a:srgbClr val="E8F4FF"/>
                </a:solidFill>
                <a:latin typeface="Microsoft YaHei"/>
              </a:defRPr>
            </a:pPr>
            <a:r>
              <a:t>集成：建库建表、约束、索引、JOIN、排序、聚合。</a:t>
            </a:r>
          </a:p>
          <a:p>
            <a:pPr>
              <a:spcAft>
                <a:spcPts val="500"/>
              </a:spcAft>
              <a:defRPr sz="1220">
                <a:solidFill>
                  <a:srgbClr val="E8F4FF"/>
                </a:solidFill>
                <a:latin typeface="Microsoft YaHei"/>
              </a:defRPr>
            </a:pPr>
            <a:r>
              <a:t>事务：COMMIT 持久化、ROLLBACK 恢复 INSERT/UPDATE/DELETE。</a:t>
            </a:r>
          </a:p>
          <a:p>
            <a:pPr>
              <a:spcAft>
                <a:spcPts val="500"/>
              </a:spcAft>
              <a:defRPr sz="1220">
                <a:solidFill>
                  <a:srgbClr val="E8F4FF"/>
                </a:solidFill>
                <a:latin typeface="Microsoft YaHei"/>
              </a:defRPr>
            </a:pPr>
            <a:r>
              <a:t>可靠性：模拟未提交事务崩溃，重启后 WAL 恢复撤销。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">
            <a:off x="8412480" y="-502920"/>
            <a:ext cx="4389120" cy="2926080"/>
          </a:xfrm>
          <a:prstGeom prst="rtTriangle">
            <a:avLst/>
          </a:prstGeom>
          <a:solidFill>
            <a:srgbClr val="134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20220000">
            <a:off x="9326880" y="4297680"/>
            <a:ext cx="3474720" cy="2926080"/>
          </a:xfrm>
          <a:prstGeom prst="triangle">
            <a:avLst/>
          </a:prstGeom>
          <a:solidFill>
            <a:srgbClr val="2383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-640080" y="5257800"/>
            <a:ext cx="4480560" cy="1645920"/>
          </a:xfrm>
          <a:prstGeom prst="parallelogram">
            <a:avLst/>
          </a:prstGeom>
          <a:solidFill>
            <a:srgbClr val="186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 rot="20520000">
            <a:off x="-868680" y="-411480"/>
            <a:ext cx="3108960" cy="2194560"/>
          </a:xfrm>
          <a:prstGeom prst="homePlate">
            <a:avLst/>
          </a:prstGeom>
          <a:solidFill>
            <a:srgbClr val="0F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Triangle 6"/>
          <p:cNvSpPr/>
          <p:nvPr/>
        </p:nvSpPr>
        <p:spPr>
          <a:xfrm>
            <a:off x="6400800" y="502920"/>
            <a:ext cx="1920240" cy="1371600"/>
          </a:xfrm>
          <a:prstGeom prst="rtTriangle">
            <a:avLst/>
          </a:prstGeom>
          <a:solidFill>
            <a:srgbClr val="37A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00584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8912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7240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55680" y="320040"/>
            <a:ext cx="822960" cy="6217920"/>
          </a:xfrm>
          <a:prstGeom prst="line">
            <a:avLst/>
          </a:prstGeom>
          <a:ln w="12700">
            <a:solidFill>
              <a:srgbClr val="3C76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310896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2B1FF"/>
                </a:solidFill>
                <a:latin typeface="Microsoft YaHei"/>
              </a:rPr>
              <a:t>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01984" y="301752"/>
            <a:ext cx="3200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 b="0">
                <a:solidFill>
                  <a:srgbClr val="B1CCE5"/>
                </a:solidFill>
                <a:latin typeface="Microsoft YaHe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713232"/>
            <a:ext cx="89611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总结：把数据库原理做成可操作系统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353312"/>
            <a:ext cx="88696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>
                <a:solidFill>
                  <a:srgbClr val="B1CCE5"/>
                </a:solidFill>
                <a:latin typeface="Microsoft YaHei"/>
              </a:rPr>
              <a:t>项目价值来自三个闭环：内核闭环、界面闭环、验证闭环。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1874519"/>
            <a:ext cx="3246120" cy="20574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039111"/>
            <a:ext cx="286207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42B1FF"/>
                </a:solidFill>
                <a:latin typeface="Microsoft YaHei"/>
              </a:rPr>
              <a:t>内核闭环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377439"/>
            <a:ext cx="286207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SQL → Token → AST → Executor → Storage → QueryResult，完整覆盖数据库执行链路。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874519"/>
            <a:ext cx="3246120" cy="20574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2039111"/>
            <a:ext cx="286207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22C7BE"/>
                </a:solidFill>
                <a:latin typeface="Microsoft YaHei"/>
              </a:rPr>
              <a:t>界面闭环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2377439"/>
            <a:ext cx="286207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Qt 对象树、表格编辑、SQL 编辑器和 Admin 面板让功能可以被连续演示。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1874519"/>
            <a:ext cx="3246120" cy="2057400"/>
          </a:xfrm>
          <a:prstGeom prst="roundRect">
            <a:avLst/>
          </a:prstGeom>
          <a:solidFill>
            <a:srgbClr val="0D2D58"/>
          </a:solidFill>
          <a:ln w="11430">
            <a:solidFill>
              <a:srgbClr val="509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6" y="2039111"/>
            <a:ext cx="286207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B74D"/>
                </a:solidFill>
                <a:latin typeface="Microsoft YaHei"/>
              </a:rPr>
              <a:t>验证闭环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2377439"/>
            <a:ext cx="286207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8F4FF"/>
                </a:solidFill>
                <a:latin typeface="Microsoft YaHei"/>
              </a:rPr>
              <a:t>测试报告、演示录屏、源码引用和最终文档共同支撑交付可信度。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166360"/>
            <a:ext cx="8961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F4FF"/>
                </a:solidFill>
                <a:latin typeface="Microsoft YaHei"/>
              </a:rPr>
              <a:t>后续可扩展：查询优化器、子查询、外连接、更多索引策略、触发器与存储过程。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