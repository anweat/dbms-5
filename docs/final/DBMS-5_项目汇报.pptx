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package/2006/relationships/metadata/thumbnail" Target="docProps/thumbnail.jpeg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  <p:sldId id="280" r:id="rId27"/>
    <p:sldId id="281" r:id="rId28"/>
    <p:sldId id="282" r:id="rId29"/>
    <p:sldId id="283" r:id="rId30"/>
    <p:sldId id="284" r:id="rId31"/>
  </p:sldIdLst>
  <p:sldSz cx="1219136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slide" Target="slides/slide14.xml"/><Relationship Id="rId17" Type="http://schemas.openxmlformats.org/officeDocument/2006/relationships/slide" Target="slides/slide15.xml"/><Relationship Id="rId18" Type="http://schemas.openxmlformats.org/officeDocument/2006/relationships/slide" Target="slides/slide16.xml"/><Relationship Id="rId19" Type="http://schemas.openxmlformats.org/officeDocument/2006/relationships/slide" Target="slides/slide17.xml"/><Relationship Id="rId20" Type="http://schemas.openxmlformats.org/officeDocument/2006/relationships/slide" Target="slides/slide18.xml"/><Relationship Id="rId21" Type="http://schemas.openxmlformats.org/officeDocument/2006/relationships/slide" Target="slides/slide19.xml"/><Relationship Id="rId22" Type="http://schemas.openxmlformats.org/officeDocument/2006/relationships/slide" Target="slides/slide20.xml"/><Relationship Id="rId23" Type="http://schemas.openxmlformats.org/officeDocument/2006/relationships/slide" Target="slides/slide21.xml"/><Relationship Id="rId24" Type="http://schemas.openxmlformats.org/officeDocument/2006/relationships/slide" Target="slides/slide22.xml"/><Relationship Id="rId25" Type="http://schemas.openxmlformats.org/officeDocument/2006/relationships/slide" Target="slides/slide23.xml"/><Relationship Id="rId26" Type="http://schemas.openxmlformats.org/officeDocument/2006/relationships/slide" Target="slides/slide24.xml"/><Relationship Id="rId27" Type="http://schemas.openxmlformats.org/officeDocument/2006/relationships/slide" Target="slides/slide25.xml"/><Relationship Id="rId28" Type="http://schemas.openxmlformats.org/officeDocument/2006/relationships/slide" Target="slides/slide26.xml"/><Relationship Id="rId29" Type="http://schemas.openxmlformats.org/officeDocument/2006/relationships/slide" Target="slides/slide27.xml"/><Relationship Id="rId30" Type="http://schemas.openxmlformats.org/officeDocument/2006/relationships/slide" Target="slides/slide28.xml"/><Relationship Id="rId31" Type="http://schemas.openxmlformats.org/officeDocument/2006/relationships/slide" Target="slides/slide29.xml"/><Relationship Id="rId32" Type="http://schemas.openxmlformats.org/officeDocument/2006/relationships/presProps" Target="presProps.xml"/><Relationship Id="rId33" Type="http://schemas.openxmlformats.org/officeDocument/2006/relationships/viewProps" Target="viewProps.xml"/><Relationship Id="rId34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image" Target="../media/image8.png"/><Relationship Id="rId2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image" Target="../media/image9.png"/><Relationship Id="rId2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image" Target="../media/image10.png"/><Relationship Id="rId2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image" Target="../media/image11.png"/><Relationship Id="rId2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image" Target="../media/image12.png"/><Relationship Id="rId2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109960" y="320040"/>
            <a:ext cx="502920" cy="27432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 algn="r"/>
            <a:r>
              <a:rPr sz="1000" b="1">
                <a:solidFill>
                  <a:srgbClr val="475569"/>
                </a:solidFill>
                <a:latin typeface="微软雅黑" panose="020B0503020204020204" charset="-122"/>
              </a:rPr>
              <a:t>01</a:t>
            </a:r>
            <a:endParaRPr sz="1000" b="1">
              <a:solidFill>
                <a:srgbClr val="475569"/>
              </a:solidFill>
              <a:latin typeface="微软雅黑" panose="020B050302020402020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02920" y="6473952"/>
            <a:ext cx="3840480" cy="201168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r>
              <a:rPr sz="850" b="0">
                <a:solidFill>
                  <a:srgbClr val="475569"/>
                </a:solidFill>
                <a:latin typeface="微软雅黑" panose="020B0503020204020204" charset="-122"/>
              </a:rPr>
              <a:t>DBMS-5 · 成员分工 · 实现与演示</a:t>
            </a:r>
            <a:endParaRPr sz="850" b="0">
              <a:solidFill>
                <a:srgbClr val="475569"/>
              </a:solidFill>
              <a:latin typeface="微软雅黑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85800" y="960120"/>
            <a:ext cx="7498079" cy="68580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r>
              <a:rPr sz="3600" b="1">
                <a:solidFill>
                  <a:srgbClr val="0F172A"/>
                </a:solidFill>
                <a:latin typeface="微软雅黑" panose="020B0503020204020204" charset="-122"/>
              </a:rPr>
              <a:t>DBMS-5 项目汇报</a:t>
            </a:r>
            <a:endParaRPr sz="3600" b="1">
              <a:solidFill>
                <a:srgbClr val="0F172A"/>
              </a:solidFill>
              <a:latin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713232" y="1709928"/>
            <a:ext cx="6400800" cy="329184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r>
              <a:rPr sz="1800" b="0">
                <a:solidFill>
                  <a:srgbClr val="475569"/>
                </a:solidFill>
                <a:latin typeface="微软雅黑" panose="020B0503020204020204" charset="-122"/>
              </a:rPr>
              <a:t>轻量级关系型数据库管理系统</a:t>
            </a:r>
            <a:endParaRPr sz="1800" b="0">
              <a:solidFill>
                <a:srgbClr val="475569"/>
              </a:solidFill>
              <a:latin typeface="微软雅黑" panose="020B0503020204020204" charset="-122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713232" y="2743200"/>
            <a:ext cx="2423160" cy="1005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13232" y="2743200"/>
            <a:ext cx="54864" cy="10058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7824" y="2871216"/>
            <a:ext cx="2148840" cy="22860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r>
              <a:rPr sz="1500" b="1">
                <a:solidFill>
                  <a:srgbClr val="2563EB"/>
                </a:solidFill>
                <a:latin typeface="微软雅黑" panose="020B0503020204020204" charset="-122"/>
              </a:rPr>
              <a:t>成员分工</a:t>
            </a:r>
            <a:endParaRPr sz="1500" b="1">
              <a:solidFill>
                <a:srgbClr val="2563EB"/>
              </a:solidFill>
              <a:latin typeface="微软雅黑" panose="020B0503020204020204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877824" y="3200400"/>
            <a:ext cx="2148840" cy="438912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r>
              <a:rPr sz="1200" b="0">
                <a:solidFill>
                  <a:srgbClr val="0F172A"/>
                </a:solidFill>
                <a:latin typeface="微软雅黑" panose="020B0503020204020204" charset="-122"/>
              </a:rPr>
              <a:t>5 个模块按职责展开</a:t>
            </a:r>
            <a:endParaRPr sz="1200" b="0">
              <a:solidFill>
                <a:srgbClr val="0F172A"/>
              </a:solidFill>
              <a:latin typeface="微软雅黑" panose="020B0503020204020204" charset="-122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3483863" y="2743200"/>
            <a:ext cx="2423160" cy="1005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483863" y="2743200"/>
            <a:ext cx="54864" cy="100584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48456" y="2871216"/>
            <a:ext cx="2148840" cy="22860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r>
              <a:rPr sz="1500" b="1">
                <a:solidFill>
                  <a:srgbClr val="059669"/>
                </a:solidFill>
                <a:latin typeface="微软雅黑" panose="020B0503020204020204" charset="-122"/>
              </a:rPr>
              <a:t>实现入口</a:t>
            </a:r>
            <a:endParaRPr sz="1500" b="1">
              <a:solidFill>
                <a:srgbClr val="059669"/>
              </a:solidFill>
              <a:latin typeface="微软雅黑" panose="020B0503020204020204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3648456" y="3200400"/>
            <a:ext cx="2148840" cy="438912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r>
              <a:rPr sz="1200" b="0">
                <a:solidFill>
                  <a:srgbClr val="0F172A"/>
                </a:solidFill>
                <a:latin typeface="微软雅黑" panose="020B0503020204020204" charset="-122"/>
              </a:rPr>
              <a:t>类 / 函数 / 数据流</a:t>
            </a:r>
            <a:endParaRPr sz="1200" b="0">
              <a:solidFill>
                <a:srgbClr val="0F172A"/>
              </a:solidFill>
              <a:latin typeface="微软雅黑" panose="020B0503020204020204" charset="-122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6254496" y="2743200"/>
            <a:ext cx="2423160" cy="1005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254496" y="2743200"/>
            <a:ext cx="54864" cy="100584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19088" y="2871216"/>
            <a:ext cx="2148840" cy="22860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r>
              <a:rPr sz="1500" b="1">
                <a:solidFill>
                  <a:srgbClr val="D97706"/>
                </a:solidFill>
                <a:latin typeface="微软雅黑" panose="020B0503020204020204" charset="-122"/>
              </a:rPr>
              <a:t>演示证据</a:t>
            </a:r>
            <a:endParaRPr sz="1500" b="1">
              <a:solidFill>
                <a:srgbClr val="D97706"/>
              </a:solidFill>
              <a:latin typeface="微软雅黑" panose="020B0503020204020204" charset="-122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6419088" y="3200400"/>
            <a:ext cx="2148840" cy="438912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r>
              <a:rPr sz="1200" b="0">
                <a:solidFill>
                  <a:srgbClr val="0F172A"/>
                </a:solidFill>
                <a:latin typeface="微软雅黑" panose="020B0503020204020204" charset="-122"/>
              </a:rPr>
              <a:t>Qt 截图 + CLI 结果</a:t>
            </a:r>
            <a:endParaRPr sz="1200" b="0">
              <a:solidFill>
                <a:srgbClr val="0F172A"/>
              </a:solidFill>
              <a:latin typeface="微软雅黑" panose="020B0503020204020204" charset="-122"/>
            </a:endParaRPr>
          </a:p>
        </p:txBody>
      </p:sp>
      <p:sp>
        <p:nvSpPr>
          <p:cNvPr id="19" name="Rounded Rectangle 18"/>
          <p:cNvSpPr/>
          <p:nvPr/>
        </p:nvSpPr>
        <p:spPr>
          <a:xfrm>
            <a:off x="9025128" y="2743200"/>
            <a:ext cx="2423160" cy="1005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9025128" y="2743200"/>
            <a:ext cx="54864" cy="1005840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89719" y="2871216"/>
            <a:ext cx="2148840" cy="22860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r>
              <a:rPr sz="1500" b="1">
                <a:solidFill>
                  <a:srgbClr val="6D28D9"/>
                </a:solidFill>
                <a:latin typeface="微软雅黑" panose="020B0503020204020204" charset="-122"/>
              </a:rPr>
              <a:t>可复现</a:t>
            </a:r>
            <a:endParaRPr sz="1500" b="1">
              <a:solidFill>
                <a:srgbClr val="6D28D9"/>
              </a:solidFill>
              <a:latin typeface="微软雅黑" panose="020B0503020204020204" charset="-122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9189719" y="3200400"/>
            <a:ext cx="2148840" cy="438912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r>
              <a:rPr sz="1200" b="0">
                <a:solidFill>
                  <a:srgbClr val="0F172A"/>
                </a:solidFill>
                <a:latin typeface="微软雅黑" panose="020B0503020204020204" charset="-122"/>
              </a:rPr>
              <a:t>脚本 / 测试 / 录屏</a:t>
            </a:r>
            <a:endParaRPr sz="1200" b="0">
              <a:solidFill>
                <a:srgbClr val="0F172A"/>
              </a:solidFill>
              <a:latin typeface="微软雅黑" panose="020B0503020204020204" charset="-122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713232" y="5257800"/>
            <a:ext cx="10332720" cy="32004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r>
              <a:rPr sz="1600" b="0">
                <a:solidFill>
                  <a:srgbClr val="0F172A"/>
                </a:solidFill>
                <a:latin typeface="微软雅黑" panose="020B0503020204020204" charset="-122"/>
              </a:rPr>
              <a:t>10 分钟结构：总体架构 / 成员分工 / 逐模块实现 / SQL 与界面演示 / 测试交付</a:t>
            </a:r>
            <a:endParaRPr sz="1600" b="0">
              <a:solidFill>
                <a:srgbClr val="0F172A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10896"/>
            <a:ext cx="2743200" cy="22860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r>
              <a:rPr sz="950" b="1">
                <a:solidFill>
                  <a:srgbClr val="2563EB"/>
                </a:solidFill>
                <a:latin typeface="微软雅黑" panose="020B0503020204020204" charset="-122"/>
              </a:rPr>
              <a:t>PRESENTATION ROUTE</a:t>
            </a:r>
            <a:endParaRPr sz="950" b="1">
              <a:solidFill>
                <a:srgbClr val="2563EB"/>
              </a:solidFill>
              <a:latin typeface="微软雅黑" panose="020B050302020402020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9052560" cy="50292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r>
              <a:rPr sz="2500" b="1">
                <a:solidFill>
                  <a:srgbClr val="0F172A"/>
                </a:solidFill>
                <a:latin typeface="微软雅黑" panose="020B0503020204020204" charset="-122"/>
              </a:rPr>
              <a:t>汇报路线：按成员分工串起系统实现</a:t>
            </a:r>
            <a:endParaRPr sz="2500" b="1">
              <a:solidFill>
                <a:srgbClr val="0F172A"/>
              </a:solidFill>
              <a:latin typeface="微软雅黑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1109960" y="320040"/>
            <a:ext cx="502920" cy="27432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 algn="r"/>
            <a:r>
              <a:rPr sz="1000" b="1">
                <a:solidFill>
                  <a:srgbClr val="475569"/>
                </a:solidFill>
                <a:latin typeface="微软雅黑" panose="020B0503020204020204" charset="-122"/>
              </a:rPr>
              <a:t>02</a:t>
            </a:r>
            <a:endParaRPr sz="1000" b="1">
              <a:solidFill>
                <a:srgbClr val="475569"/>
              </a:solidFill>
              <a:latin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3840480" cy="201168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r>
              <a:rPr sz="850" b="0">
                <a:solidFill>
                  <a:srgbClr val="475569"/>
                </a:solidFill>
                <a:latin typeface="微软雅黑" panose="020B0503020204020204" charset="-122"/>
              </a:rPr>
              <a:t>DBMS-5 · 成员分工 · 实现与演示</a:t>
            </a:r>
            <a:endParaRPr sz="850" b="0">
              <a:solidFill>
                <a:srgbClr val="475569"/>
              </a:solidFill>
              <a:latin typeface="微软雅黑" panose="020B0503020204020204" charset="-122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731520" y="1828800"/>
            <a:ext cx="1874519" cy="1234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1828800"/>
            <a:ext cx="54864" cy="12344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96112" y="1956816"/>
            <a:ext cx="1600199" cy="22860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r>
              <a:rPr sz="1500" b="1">
                <a:solidFill>
                  <a:srgbClr val="2563EB"/>
                </a:solidFill>
                <a:latin typeface="微软雅黑" panose="020B0503020204020204" charset="-122"/>
              </a:rPr>
              <a:t>赵杰雄</a:t>
            </a:r>
            <a:endParaRPr sz="1500" b="1">
              <a:solidFill>
                <a:srgbClr val="2563EB"/>
              </a:solidFill>
              <a:latin typeface="微软雅黑" panose="020B0503020204020204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896112" y="2286000"/>
            <a:ext cx="1600199" cy="667512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r>
              <a:rPr sz="1050" b="0">
                <a:solidFill>
                  <a:srgbClr val="0F172A"/>
                </a:solidFill>
                <a:latin typeface="微软雅黑" panose="020B0503020204020204" charset="-122"/>
              </a:rPr>
              <a:t>项目管理 / 架构 / 集成</a:t>
            </a:r>
            <a:endParaRPr sz="1050" b="0">
              <a:solidFill>
                <a:srgbClr val="0F172A"/>
              </a:solidFill>
              <a:latin typeface="微软雅黑" panose="020B0503020204020204" charset="-122"/>
            </a:endParaRPr>
          </a:p>
        </p:txBody>
      </p:sp>
      <p:cxnSp>
        <p:nvCxnSpPr>
          <p:cNvPr id="11" name="Connector 10"/>
          <p:cNvCxnSpPr/>
          <p:nvPr/>
        </p:nvCxnSpPr>
        <p:spPr>
          <a:xfrm>
            <a:off x="2606039" y="2450592"/>
            <a:ext cx="301752" cy="0"/>
          </a:xfrm>
          <a:prstGeom prst="line">
            <a:avLst/>
          </a:prstGeom>
          <a:ln w="19050">
            <a:solidFill>
              <a:srgbClr val="CBD5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2971800" y="1828800"/>
            <a:ext cx="1874519" cy="1234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971800" y="1828800"/>
            <a:ext cx="54864" cy="123444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136392" y="1956816"/>
            <a:ext cx="1600199" cy="22860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r>
              <a:rPr sz="1500" b="1">
                <a:solidFill>
                  <a:srgbClr val="059669"/>
                </a:solidFill>
                <a:latin typeface="微软雅黑" panose="020B0503020204020204" charset="-122"/>
              </a:rPr>
              <a:t>项重善</a:t>
            </a:r>
            <a:endParaRPr sz="1500" b="1">
              <a:solidFill>
                <a:srgbClr val="059669"/>
              </a:solidFill>
              <a:latin typeface="微软雅黑" panose="020B0503020204020204" charset="-122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3136392" y="2286000"/>
            <a:ext cx="1600199" cy="667512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r>
              <a:rPr sz="1050" b="0">
                <a:solidFill>
                  <a:srgbClr val="0F172A"/>
                </a:solidFill>
                <a:latin typeface="微软雅黑" panose="020B0503020204020204" charset="-122"/>
              </a:rPr>
              <a:t>后端存储与索引</a:t>
            </a:r>
            <a:endParaRPr sz="1050" b="0">
              <a:solidFill>
                <a:srgbClr val="0F172A"/>
              </a:solidFill>
              <a:latin typeface="微软雅黑" panose="020B0503020204020204" charset="-122"/>
            </a:endParaRPr>
          </a:p>
        </p:txBody>
      </p:sp>
      <p:cxnSp>
        <p:nvCxnSpPr>
          <p:cNvPr id="16" name="Connector 15"/>
          <p:cNvCxnSpPr/>
          <p:nvPr/>
        </p:nvCxnSpPr>
        <p:spPr>
          <a:xfrm>
            <a:off x="4846320" y="2450592"/>
            <a:ext cx="301752" cy="0"/>
          </a:xfrm>
          <a:prstGeom prst="line">
            <a:avLst/>
          </a:prstGeom>
          <a:ln w="19050">
            <a:solidFill>
              <a:srgbClr val="CBD5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5212080" y="1828800"/>
            <a:ext cx="1874519" cy="1234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212080" y="1828800"/>
            <a:ext cx="54864" cy="123444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376672" y="1956816"/>
            <a:ext cx="1600199" cy="22860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r>
              <a:rPr sz="1500" b="1">
                <a:solidFill>
                  <a:srgbClr val="D97706"/>
                </a:solidFill>
                <a:latin typeface="微软雅黑" panose="020B0503020204020204" charset="-122"/>
              </a:rPr>
              <a:t>王凯</a:t>
            </a:r>
            <a:endParaRPr sz="1500" b="1">
              <a:solidFill>
                <a:srgbClr val="D97706"/>
              </a:solidFill>
              <a:latin typeface="微软雅黑" panose="020B0503020204020204" charset="-122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5376672" y="2286000"/>
            <a:ext cx="1600199" cy="667512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r>
              <a:rPr sz="1050" b="0">
                <a:solidFill>
                  <a:srgbClr val="0F172A"/>
                </a:solidFill>
                <a:latin typeface="微软雅黑" panose="020B0503020204020204" charset="-122"/>
              </a:rPr>
              <a:t>SQL 解析与执行</a:t>
            </a:r>
            <a:endParaRPr sz="1050" b="0">
              <a:solidFill>
                <a:srgbClr val="0F172A"/>
              </a:solidFill>
              <a:latin typeface="微软雅黑" panose="020B0503020204020204" charset="-122"/>
            </a:endParaRPr>
          </a:p>
        </p:txBody>
      </p:sp>
      <p:cxnSp>
        <p:nvCxnSpPr>
          <p:cNvPr id="21" name="Connector 20"/>
          <p:cNvCxnSpPr/>
          <p:nvPr/>
        </p:nvCxnSpPr>
        <p:spPr>
          <a:xfrm>
            <a:off x="7086600" y="2450592"/>
            <a:ext cx="301752" cy="0"/>
          </a:xfrm>
          <a:prstGeom prst="line">
            <a:avLst/>
          </a:prstGeom>
          <a:ln w="19050">
            <a:solidFill>
              <a:srgbClr val="CBD5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7452360" y="1828800"/>
            <a:ext cx="1874519" cy="1234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452360" y="1828800"/>
            <a:ext cx="54864" cy="1234440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616952" y="1956816"/>
            <a:ext cx="1600199" cy="22860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r>
              <a:rPr sz="1500" b="1">
                <a:solidFill>
                  <a:srgbClr val="6D28D9"/>
                </a:solidFill>
                <a:latin typeface="微软雅黑" panose="020B0503020204020204" charset="-122"/>
              </a:rPr>
              <a:t>张浩然</a:t>
            </a:r>
            <a:endParaRPr sz="1500" b="1">
              <a:solidFill>
                <a:srgbClr val="6D28D9"/>
              </a:solidFill>
              <a:latin typeface="微软雅黑" panose="020B0503020204020204" charset="-122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7616952" y="2286000"/>
            <a:ext cx="1600199" cy="667512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r>
              <a:rPr sz="1050" b="0">
                <a:solidFill>
                  <a:srgbClr val="0F172A"/>
                </a:solidFill>
                <a:latin typeface="微软雅黑" panose="020B0503020204020204" charset="-122"/>
              </a:rPr>
              <a:t>CLI 与 Qt 前端</a:t>
            </a:r>
            <a:endParaRPr sz="1050" b="0">
              <a:solidFill>
                <a:srgbClr val="0F172A"/>
              </a:solidFill>
              <a:latin typeface="微软雅黑" panose="020B0503020204020204" charset="-122"/>
            </a:endParaRPr>
          </a:p>
        </p:txBody>
      </p:sp>
      <p:cxnSp>
        <p:nvCxnSpPr>
          <p:cNvPr id="26" name="Connector 25"/>
          <p:cNvCxnSpPr/>
          <p:nvPr/>
        </p:nvCxnSpPr>
        <p:spPr>
          <a:xfrm>
            <a:off x="9326880" y="2450592"/>
            <a:ext cx="301752" cy="0"/>
          </a:xfrm>
          <a:prstGeom prst="line">
            <a:avLst/>
          </a:prstGeom>
          <a:ln w="19050">
            <a:solidFill>
              <a:srgbClr val="CBD5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9692640" y="1828800"/>
            <a:ext cx="1874519" cy="1234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9692640" y="1828800"/>
            <a:ext cx="54864" cy="123444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857232" y="1956816"/>
            <a:ext cx="1600199" cy="22860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r>
              <a:rPr sz="1500" b="1">
                <a:solidFill>
                  <a:srgbClr val="DC2626"/>
                </a:solidFill>
                <a:latin typeface="微软雅黑" panose="020B0503020204020204" charset="-122"/>
              </a:rPr>
              <a:t>谷友瑄</a:t>
            </a:r>
            <a:endParaRPr sz="1500" b="1">
              <a:solidFill>
                <a:srgbClr val="DC2626"/>
              </a:solidFill>
              <a:latin typeface="微软雅黑" panose="020B0503020204020204" charset="-122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9857232" y="2286000"/>
            <a:ext cx="1600199" cy="667512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r>
              <a:rPr sz="1050" b="0">
                <a:solidFill>
                  <a:srgbClr val="0F172A"/>
                </a:solidFill>
                <a:latin typeface="微软雅黑" panose="020B0503020204020204" charset="-122"/>
              </a:rPr>
              <a:t>权限安全 / 测试 / 文档</a:t>
            </a:r>
            <a:endParaRPr sz="1050" b="0">
              <a:solidFill>
                <a:srgbClr val="0F172A"/>
              </a:solidFill>
              <a:latin typeface="微软雅黑" panose="020B0503020204020204" charset="-122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777240" y="3886200"/>
            <a:ext cx="10698480" cy="1234440"/>
          </a:xfrm>
          <a:prstGeom prst="rect">
            <a:avLst/>
          </a:prstGeom>
          <a:noFill/>
        </p:spPr>
        <p:txBody>
          <a:bodyPr wrap="square" lIns="73152" rIns="54864">
            <a:spAutoFit/>
          </a:bodyPr>
          <a:lstStyle/>
          <a:p>
            <a:pPr>
              <a:spcAft>
                <a:spcPts val="500"/>
              </a:spcAft>
              <a:defRPr sz="1700">
                <a:solidFill>
                  <a:srgbClr val="0F172A"/>
                </a:solidFill>
                <a:latin typeface="微软雅黑" panose="020B0503020204020204" charset="-122"/>
              </a:defRPr>
            </a:pPr>
            <a:r>
              <a:t>先讲统一入口和交付闭环，再讲后端存储、SQL 执行、前端交互、安全测试。</a:t>
            </a:r>
          </a:p>
          <a:p>
            <a:pPr>
              <a:spcAft>
                <a:spcPts val="500"/>
              </a:spcAft>
              <a:defRPr sz="1700">
                <a:solidFill>
                  <a:srgbClr val="0F172A"/>
                </a:solidFill>
                <a:latin typeface="微软雅黑" panose="020B0503020204020204" charset="-122"/>
              </a:defRPr>
            </a:pPr>
            <a:r>
              <a:t>每个模块都给出：负责范围、核心类/函数、演示语句或界面动作、结果解释。</a:t>
            </a:r>
          </a:p>
          <a:p>
            <a:pPr>
              <a:spcAft>
                <a:spcPts val="500"/>
              </a:spcAft>
              <a:defRPr sz="1700">
                <a:solidFill>
                  <a:srgbClr val="0F172A"/>
                </a:solidFill>
                <a:latin typeface="微软雅黑" panose="020B0503020204020204" charset="-122"/>
              </a:defRPr>
            </a:pPr>
            <a:r>
              <a:t>最后用 CLI 逐句截图补全 DDL、DML、JOIN、事务、索引、权限的验收覆盖。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10896"/>
            <a:ext cx="2743200" cy="22860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r>
              <a:rPr sz="950" b="1">
                <a:solidFill>
                  <a:srgbClr val="2563EB"/>
                </a:solidFill>
                <a:latin typeface="微软雅黑" panose="020B0503020204020204" charset="-122"/>
              </a:rPr>
              <a:t>TEAM SPLIT</a:t>
            </a:r>
            <a:endParaRPr sz="950" b="1">
              <a:solidFill>
                <a:srgbClr val="2563EB"/>
              </a:solidFill>
              <a:latin typeface="微软雅黑" panose="020B050302020402020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9052560" cy="50292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r>
              <a:rPr sz="2500" b="1">
                <a:solidFill>
                  <a:srgbClr val="0F172A"/>
                </a:solidFill>
                <a:latin typeface="微软雅黑" panose="020B0503020204020204" charset="-122"/>
              </a:rPr>
              <a:t>成员分工：职责 / 实现 / 交付物</a:t>
            </a:r>
            <a:endParaRPr sz="2500" b="1">
              <a:solidFill>
                <a:srgbClr val="0F172A"/>
              </a:solidFill>
              <a:latin typeface="微软雅黑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1109960" y="320040"/>
            <a:ext cx="502920" cy="27432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 algn="r"/>
            <a:r>
              <a:rPr sz="1000" b="1">
                <a:solidFill>
                  <a:srgbClr val="475569"/>
                </a:solidFill>
                <a:latin typeface="微软雅黑" panose="020B0503020204020204" charset="-122"/>
              </a:rPr>
              <a:t>03</a:t>
            </a:r>
            <a:endParaRPr sz="1000" b="1">
              <a:solidFill>
                <a:srgbClr val="475569"/>
              </a:solidFill>
              <a:latin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3840480" cy="201168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r>
              <a:rPr sz="850" b="0">
                <a:solidFill>
                  <a:srgbClr val="475569"/>
                </a:solidFill>
                <a:latin typeface="微软雅黑" panose="020B0503020204020204" charset="-122"/>
              </a:rPr>
              <a:t>DBMS-5 · 成员分工 · 实现与演示</a:t>
            </a:r>
            <a:endParaRPr sz="850" b="0">
              <a:solidFill>
                <a:srgbClr val="475569"/>
              </a:solidFill>
              <a:latin typeface="微软雅黑" panose="020B0503020204020204" charset="-122"/>
            </a:endParaRP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11480" y="1325880"/>
          <a:ext cx="11384280" cy="4526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17320"/>
                <a:gridCol w="1828800"/>
                <a:gridCol w="5394960"/>
                <a:gridCol w="2743200"/>
              </a:tblGrid>
              <a:tr h="75438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成员</a:t>
                      </a:r>
                    </a:p>
                  </a:txBody>
                  <a:tcPr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负责模块</a:t>
                      </a:r>
                    </a:p>
                  </a:txBody>
                  <a:tcPr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具体实现</a:t>
                      </a:r>
                    </a:p>
                  </a:txBody>
                  <a:tcPr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交付物</a:t>
                      </a:r>
                    </a:p>
                  </a:txBody>
                  <a:tcPr>
                    <a:solidFill>
                      <a:srgbClr val="334155"/>
                    </a:solidFill>
                  </a:tcPr>
                </a:tc>
              </a:tr>
              <a:tr h="754380">
                <a:tc>
                  <a:txBody>
                    <a:bodyPr/>
                    <a:lstStyle/>
                    <a:p>
                      <a:pPr>
                        <a:defRPr sz="870">
                          <a:solidFill>
                            <a:srgbClr val="0F172A"/>
                          </a:solidFill>
                          <a:latin typeface="微软雅黑" panose="020B0503020204020204" charset="-122"/>
                        </a:defRPr>
                      </a:pPr>
                      <a:r>
                        <a:rPr sz="1600"/>
                        <a:t>赵杰雄（组长）</a:t>
                      </a:r>
                      <a:endParaRPr sz="1600"/>
                    </a:p>
                  </a:txBody>
                  <a:tcPr marL="45720" marR="45720" marT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70">
                          <a:solidFill>
                            <a:srgbClr val="0F172A"/>
                          </a:solidFill>
                          <a:latin typeface="微软雅黑" panose="020B0503020204020204" charset="-122"/>
                        </a:defRPr>
                      </a:pPr>
                      <a:r>
                        <a:rPr sz="1600"/>
                        <a:t>项目管理 / 架构 / 集成</a:t>
                      </a:r>
                      <a:endParaRPr sz="1600"/>
                    </a:p>
                  </a:txBody>
                  <a:tcPr marL="45720" marR="45720" marT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70">
                          <a:solidFill>
                            <a:srgbClr val="0F172A"/>
                          </a:solidFill>
                          <a:latin typeface="微软雅黑" panose="020B0503020204020204" charset="-122"/>
                        </a:defRPr>
                      </a:pPr>
                      <a:r>
                        <a:rPr sz="1600"/>
                        <a:t>12 周计划、模块接口、版本集成、测试验收、最终报告和汇报组织</a:t>
                      </a:r>
                      <a:endParaRPr sz="1600"/>
                    </a:p>
                  </a:txBody>
                  <a:tcPr marL="45720" marR="45720" marT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70">
                          <a:solidFill>
                            <a:srgbClr val="0F172A"/>
                          </a:solidFill>
                          <a:latin typeface="微软雅黑" panose="020B0503020204020204" charset="-122"/>
                        </a:defRPr>
                      </a:pPr>
                      <a:r>
                        <a:rPr sz="1600"/>
                        <a:t>开发规划、接口约定、集成版本、最终交付材料</a:t>
                      </a:r>
                      <a:endParaRPr sz="1600"/>
                    </a:p>
                  </a:txBody>
                  <a:tcPr marL="45720" marR="45720" marT="36576">
                    <a:solidFill>
                      <a:srgbClr val="FFFFFF"/>
                    </a:solidFill>
                  </a:tcPr>
                </a:tc>
              </a:tr>
              <a:tr h="754380">
                <a:tc>
                  <a:txBody>
                    <a:bodyPr/>
                    <a:lstStyle/>
                    <a:p>
                      <a:pPr>
                        <a:defRPr sz="870">
                          <a:solidFill>
                            <a:srgbClr val="0F172A"/>
                          </a:solidFill>
                          <a:latin typeface="微软雅黑" panose="020B0503020204020204" charset="-122"/>
                        </a:defRPr>
                      </a:pPr>
                      <a:r>
                        <a:rPr sz="1600"/>
                        <a:t>项重善</a:t>
                      </a:r>
                      <a:endParaRPr sz="1600"/>
                    </a:p>
                  </a:txBody>
                  <a:tcPr marL="45720" marR="45720" marT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70">
                          <a:solidFill>
                            <a:srgbClr val="0F172A"/>
                          </a:solidFill>
                          <a:latin typeface="微软雅黑" panose="020B0503020204020204" charset="-122"/>
                        </a:defRPr>
                      </a:pPr>
                      <a:r>
                        <a:rPr sz="1600"/>
                        <a:t>后端存储与索引</a:t>
                      </a:r>
                      <a:endParaRPr sz="1600"/>
                    </a:p>
                  </a:txBody>
                  <a:tcPr marL="45720" marR="45720" marT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70">
                          <a:solidFill>
                            <a:srgbClr val="0F172A"/>
                          </a:solidFill>
                          <a:latin typeface="微软雅黑" panose="020B0503020204020204" charset="-122"/>
                        </a:defRPr>
                      </a:pPr>
                      <a:r>
                        <a:rPr sz="1600"/>
                        <a:t>数据库目录、表定义、记录文件、索引文件、WAL 等存储相关实现</a:t>
                      </a:r>
                      <a:endParaRPr sz="1600"/>
                    </a:p>
                  </a:txBody>
                  <a:tcPr marL="45720" marR="45720" marT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70">
                          <a:solidFill>
                            <a:srgbClr val="0F172A"/>
                          </a:solidFill>
                          <a:latin typeface="微软雅黑" panose="020B0503020204020204" charset="-122"/>
                        </a:defRPr>
                      </a:pPr>
                      <a:r>
                        <a:rPr sz="1600"/>
                        <a:t>存储管理模块、索引管理模块、数据持久化测试</a:t>
                      </a:r>
                      <a:endParaRPr sz="1600"/>
                    </a:p>
                  </a:txBody>
                  <a:tcPr marL="45720" marR="45720" marT="36576">
                    <a:solidFill>
                      <a:srgbClr val="FFFFFF"/>
                    </a:solidFill>
                  </a:tcPr>
                </a:tc>
              </a:tr>
              <a:tr h="754380">
                <a:tc>
                  <a:txBody>
                    <a:bodyPr/>
                    <a:lstStyle/>
                    <a:p>
                      <a:pPr>
                        <a:defRPr sz="870">
                          <a:solidFill>
                            <a:srgbClr val="0F172A"/>
                          </a:solidFill>
                          <a:latin typeface="微软雅黑" panose="020B0503020204020204" charset="-122"/>
                        </a:defRPr>
                      </a:pPr>
                      <a:r>
                        <a:rPr sz="1600"/>
                        <a:t>王凯</a:t>
                      </a:r>
                      <a:endParaRPr sz="1600"/>
                    </a:p>
                  </a:txBody>
                  <a:tcPr marL="45720" marR="45720" marT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70">
                          <a:solidFill>
                            <a:srgbClr val="0F172A"/>
                          </a:solidFill>
                          <a:latin typeface="微软雅黑" panose="020B0503020204020204" charset="-122"/>
                        </a:defRPr>
                      </a:pPr>
                      <a:r>
                        <a:rPr sz="1600"/>
                        <a:t>SQL 解析与执行</a:t>
                      </a:r>
                      <a:endParaRPr sz="1600"/>
                    </a:p>
                  </a:txBody>
                  <a:tcPr marL="45720" marR="45720" marT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70">
                          <a:solidFill>
                            <a:srgbClr val="0F172A"/>
                          </a:solidFill>
                          <a:latin typeface="微软雅黑" panose="020B0503020204020204" charset="-122"/>
                        </a:defRPr>
                      </a:pPr>
                      <a:r>
                        <a:rPr sz="1600"/>
                        <a:t>Lexer、Parser、AST、Executor、WHERE 求值、约束检查、联表查询</a:t>
                      </a:r>
                      <a:endParaRPr sz="1600"/>
                    </a:p>
                  </a:txBody>
                  <a:tcPr marL="45720" marR="45720" marT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70">
                          <a:solidFill>
                            <a:srgbClr val="0F172A"/>
                          </a:solidFill>
                          <a:latin typeface="微软雅黑" panose="020B0503020204020204" charset="-122"/>
                        </a:defRPr>
                      </a:pPr>
                      <a:r>
                        <a:rPr sz="1600"/>
                        <a:t>解析执行模块、SQL 功能测试</a:t>
                      </a:r>
                      <a:endParaRPr sz="1600"/>
                    </a:p>
                  </a:txBody>
                  <a:tcPr marL="45720" marR="45720" marT="36576">
                    <a:solidFill>
                      <a:srgbClr val="FFFFFF"/>
                    </a:solidFill>
                  </a:tcPr>
                </a:tc>
              </a:tr>
              <a:tr h="754380">
                <a:tc>
                  <a:txBody>
                    <a:bodyPr/>
                    <a:lstStyle/>
                    <a:p>
                      <a:pPr>
                        <a:defRPr sz="870">
                          <a:solidFill>
                            <a:srgbClr val="0F172A"/>
                          </a:solidFill>
                          <a:latin typeface="微软雅黑" panose="020B0503020204020204" charset="-122"/>
                        </a:defRPr>
                      </a:pPr>
                      <a:r>
                        <a:rPr sz="1600"/>
                        <a:t>张浩然</a:t>
                      </a:r>
                      <a:endParaRPr sz="1600"/>
                    </a:p>
                  </a:txBody>
                  <a:tcPr marL="45720" marR="45720" marT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70">
                          <a:solidFill>
                            <a:srgbClr val="0F172A"/>
                          </a:solidFill>
                          <a:latin typeface="微软雅黑" panose="020B0503020204020204" charset="-122"/>
                        </a:defRPr>
                      </a:pPr>
                      <a:r>
                        <a:rPr sz="1600"/>
                        <a:t>CLI 与 Qt 前端</a:t>
                      </a:r>
                      <a:endParaRPr sz="1600"/>
                    </a:p>
                  </a:txBody>
                  <a:tcPr marL="45720" marR="45720" marT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70">
                          <a:solidFill>
                            <a:srgbClr val="0F172A"/>
                          </a:solidFill>
                          <a:latin typeface="微软雅黑" panose="020B0503020204020204" charset="-122"/>
                        </a:defRPr>
                      </a:pPr>
                      <a:r>
                        <a:rPr sz="1600"/>
                        <a:t>命令行交互、Qt 主窗口、库表树、SQL 编辑区、结果表格、表数据编辑和界面演示</a:t>
                      </a:r>
                      <a:endParaRPr sz="1600"/>
                    </a:p>
                  </a:txBody>
                  <a:tcPr marL="45720" marR="45720" marT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70">
                          <a:solidFill>
                            <a:srgbClr val="0F172A"/>
                          </a:solidFill>
                          <a:latin typeface="微软雅黑" panose="020B0503020204020204" charset="-122"/>
                        </a:defRPr>
                      </a:pPr>
                      <a:r>
                        <a:rPr sz="1600"/>
                        <a:t>CLI、Qt 界面组件、演示录屏</a:t>
                      </a:r>
                      <a:endParaRPr sz="1600"/>
                    </a:p>
                  </a:txBody>
                  <a:tcPr marL="45720" marR="45720" marT="36576">
                    <a:solidFill>
                      <a:srgbClr val="FFFFFF"/>
                    </a:solidFill>
                  </a:tcPr>
                </a:tc>
              </a:tr>
              <a:tr h="754380">
                <a:tc>
                  <a:txBody>
                    <a:bodyPr/>
                    <a:lstStyle/>
                    <a:p>
                      <a:pPr>
                        <a:defRPr sz="870">
                          <a:solidFill>
                            <a:srgbClr val="0F172A"/>
                          </a:solidFill>
                          <a:latin typeface="微软雅黑" panose="020B0503020204020204" charset="-122"/>
                        </a:defRPr>
                      </a:pPr>
                      <a:r>
                        <a:rPr sz="1600"/>
                        <a:t>谷友瑄</a:t>
                      </a:r>
                      <a:endParaRPr sz="1600"/>
                    </a:p>
                  </a:txBody>
                  <a:tcPr marL="45720" marR="45720" marT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70">
                          <a:solidFill>
                            <a:srgbClr val="0F172A"/>
                          </a:solidFill>
                          <a:latin typeface="微软雅黑" panose="020B0503020204020204" charset="-122"/>
                        </a:defRPr>
                      </a:pPr>
                      <a:r>
                        <a:rPr sz="1600"/>
                        <a:t>权限安全 / 测试 / 文档</a:t>
                      </a:r>
                      <a:endParaRPr sz="1600"/>
                    </a:p>
                  </a:txBody>
                  <a:tcPr marL="45720" marR="45720" marT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70">
                          <a:solidFill>
                            <a:srgbClr val="0F172A"/>
                          </a:solidFill>
                          <a:latin typeface="微软雅黑" panose="020B0503020204020204" charset="-122"/>
                        </a:defRPr>
                      </a:pPr>
                      <a:r>
                        <a:rPr sz="1600"/>
                        <a:t>用户认证、权限管理、测试用例整理、测试报告、用户手册和最终材料完善</a:t>
                      </a:r>
                      <a:endParaRPr sz="1600"/>
                    </a:p>
                  </a:txBody>
                  <a:tcPr marL="45720" marR="45720" marT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70">
                          <a:solidFill>
                            <a:srgbClr val="0F172A"/>
                          </a:solidFill>
                          <a:latin typeface="微软雅黑" panose="020B0503020204020204" charset="-122"/>
                        </a:defRPr>
                      </a:pPr>
                      <a:r>
                        <a:rPr sz="1600"/>
                        <a:t>权限管理模块、测试报告、用户使用手册</a:t>
                      </a:r>
                      <a:endParaRPr sz="1600"/>
                    </a:p>
                  </a:txBody>
                  <a:tcPr marL="45720" marR="45720" marT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10896"/>
            <a:ext cx="2743200" cy="22860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r>
              <a:rPr sz="950" b="1">
                <a:solidFill>
                  <a:srgbClr val="2563EB"/>
                </a:solidFill>
                <a:latin typeface="微软雅黑" panose="020B0503020204020204" charset="-122"/>
              </a:rPr>
              <a:t>ARCHITECTURE</a:t>
            </a:r>
            <a:endParaRPr sz="950" b="1">
              <a:solidFill>
                <a:srgbClr val="2563EB"/>
              </a:solidFill>
              <a:latin typeface="微软雅黑" panose="020B050302020402020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9052560" cy="50292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r>
              <a:rPr sz="2500" b="1">
                <a:solidFill>
                  <a:srgbClr val="0F172A"/>
                </a:solidFill>
                <a:latin typeface="微软雅黑" panose="020B0503020204020204" charset="-122"/>
              </a:rPr>
              <a:t>系统总览：两个入口，一条执行链路</a:t>
            </a:r>
            <a:endParaRPr sz="2500" b="1">
              <a:solidFill>
                <a:srgbClr val="0F172A"/>
              </a:solidFill>
              <a:latin typeface="微软雅黑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1109960" y="320040"/>
            <a:ext cx="502920" cy="27432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 algn="r"/>
            <a:r>
              <a:rPr sz="1000" b="1">
                <a:solidFill>
                  <a:srgbClr val="475569"/>
                </a:solidFill>
                <a:latin typeface="微软雅黑" panose="020B0503020204020204" charset="-122"/>
              </a:rPr>
              <a:t>04</a:t>
            </a:r>
            <a:endParaRPr sz="1000" b="1">
              <a:solidFill>
                <a:srgbClr val="475569"/>
              </a:solidFill>
              <a:latin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3840480" cy="201168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r>
              <a:rPr sz="850" b="0">
                <a:solidFill>
                  <a:srgbClr val="475569"/>
                </a:solidFill>
                <a:latin typeface="微软雅黑" panose="020B0503020204020204" charset="-122"/>
              </a:rPr>
              <a:t>DBMS-5 · 成员分工 · 实现与演示</a:t>
            </a:r>
            <a:endParaRPr sz="850" b="0">
              <a:solidFill>
                <a:srgbClr val="475569"/>
              </a:solidFill>
              <a:latin typeface="微软雅黑" panose="020B0503020204020204" charset="-122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822960" y="1554480"/>
            <a:ext cx="1691640" cy="685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22960" y="1554480"/>
            <a:ext cx="54864" cy="6858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87552" y="1682495"/>
            <a:ext cx="1417320" cy="22860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r>
              <a:rPr sz="1200" b="1">
                <a:solidFill>
                  <a:srgbClr val="2563EB"/>
                </a:solidFill>
                <a:latin typeface="微软雅黑" panose="020B0503020204020204" charset="-122"/>
              </a:rPr>
              <a:t>CLI REPL</a:t>
            </a:r>
            <a:endParaRPr sz="1200" b="1">
              <a:solidFill>
                <a:srgbClr val="2563EB"/>
              </a:solidFill>
              <a:latin typeface="微软雅黑" panose="020B0503020204020204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987552" y="2011680"/>
            <a:ext cx="1417320" cy="118872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/>
        </p:txBody>
      </p:sp>
      <p:sp>
        <p:nvSpPr>
          <p:cNvPr id="11" name="Rounded Rectangle 10"/>
          <p:cNvSpPr/>
          <p:nvPr/>
        </p:nvSpPr>
        <p:spPr>
          <a:xfrm>
            <a:off x="822960" y="2926080"/>
            <a:ext cx="1691640" cy="685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22960" y="2926080"/>
            <a:ext cx="54864" cy="685800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87552" y="3054096"/>
            <a:ext cx="1417320" cy="22860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r>
              <a:rPr sz="1200" b="1">
                <a:solidFill>
                  <a:srgbClr val="6D28D9"/>
                </a:solidFill>
                <a:latin typeface="微软雅黑" panose="020B0503020204020204" charset="-122"/>
              </a:rPr>
              <a:t>Qt Widgets UI</a:t>
            </a:r>
            <a:endParaRPr sz="1200" b="1">
              <a:solidFill>
                <a:srgbClr val="6D28D9"/>
              </a:solidFill>
              <a:latin typeface="微软雅黑" panose="020B0503020204020204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987552" y="3383280"/>
            <a:ext cx="1417320" cy="118872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/>
        </p:txBody>
      </p:sp>
      <p:sp>
        <p:nvSpPr>
          <p:cNvPr id="15" name="Rounded Rectangle 14"/>
          <p:cNvSpPr/>
          <p:nvPr/>
        </p:nvSpPr>
        <p:spPr>
          <a:xfrm>
            <a:off x="3474720" y="2240280"/>
            <a:ext cx="1691640" cy="685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474720" y="2240280"/>
            <a:ext cx="54864" cy="68580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39312" y="2368296"/>
            <a:ext cx="1417320" cy="22860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r>
              <a:rPr sz="1200" b="1">
                <a:solidFill>
                  <a:srgbClr val="059669"/>
                </a:solidFill>
                <a:latin typeface="微软雅黑" panose="020B0503020204020204" charset="-122"/>
              </a:rPr>
              <a:t>DBEngine::execute</a:t>
            </a:r>
            <a:endParaRPr sz="1200" b="1">
              <a:solidFill>
                <a:srgbClr val="059669"/>
              </a:solidFill>
              <a:latin typeface="微软雅黑" panose="020B0503020204020204" charset="-122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3639312" y="2697480"/>
            <a:ext cx="1417320" cy="118872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/>
        </p:txBody>
      </p:sp>
      <p:sp>
        <p:nvSpPr>
          <p:cNvPr id="19" name="Rounded Rectangle 18"/>
          <p:cNvSpPr/>
          <p:nvPr/>
        </p:nvSpPr>
        <p:spPr>
          <a:xfrm>
            <a:off x="5577840" y="1554480"/>
            <a:ext cx="1691640" cy="685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577840" y="1554480"/>
            <a:ext cx="54864" cy="68580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742431" y="1682495"/>
            <a:ext cx="1417320" cy="22860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r>
              <a:rPr sz="1200" b="1">
                <a:solidFill>
                  <a:srgbClr val="D97706"/>
                </a:solidFill>
                <a:latin typeface="微软雅黑" panose="020B0503020204020204" charset="-122"/>
              </a:rPr>
              <a:t>Lexer / Parser / AST</a:t>
            </a:r>
            <a:endParaRPr sz="1200" b="1">
              <a:solidFill>
                <a:srgbClr val="D97706"/>
              </a:solidFill>
              <a:latin typeface="微软雅黑" panose="020B0503020204020204" charset="-122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5742431" y="2011680"/>
            <a:ext cx="1417320" cy="118872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/>
        </p:txBody>
      </p:sp>
      <p:sp>
        <p:nvSpPr>
          <p:cNvPr id="23" name="Rounded Rectangle 22"/>
          <p:cNvSpPr/>
          <p:nvPr/>
        </p:nvSpPr>
        <p:spPr>
          <a:xfrm>
            <a:off x="5577840" y="2926080"/>
            <a:ext cx="1691640" cy="685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577840" y="2926080"/>
            <a:ext cx="54864" cy="68580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742431" y="3054096"/>
            <a:ext cx="1417320" cy="22860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r>
              <a:rPr sz="1200" b="1">
                <a:solidFill>
                  <a:srgbClr val="D97706"/>
                </a:solidFill>
                <a:latin typeface="微软雅黑" panose="020B0503020204020204" charset="-122"/>
              </a:rPr>
              <a:t>Executor</a:t>
            </a:r>
            <a:endParaRPr sz="1200" b="1">
              <a:solidFill>
                <a:srgbClr val="D97706"/>
              </a:solidFill>
              <a:latin typeface="微软雅黑" panose="020B0503020204020204" charset="-122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5742431" y="3383280"/>
            <a:ext cx="1417320" cy="118872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/>
        </p:txBody>
      </p:sp>
      <p:sp>
        <p:nvSpPr>
          <p:cNvPr id="27" name="Rounded Rectangle 26"/>
          <p:cNvSpPr/>
          <p:nvPr/>
        </p:nvSpPr>
        <p:spPr>
          <a:xfrm>
            <a:off x="8001000" y="2240280"/>
            <a:ext cx="1691640" cy="685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001000" y="2240280"/>
            <a:ext cx="54864" cy="68580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165592" y="2368296"/>
            <a:ext cx="1417320" cy="22860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r>
              <a:rPr sz="1200" b="1">
                <a:solidFill>
                  <a:srgbClr val="334155"/>
                </a:solidFill>
                <a:latin typeface="微软雅黑" panose="020B0503020204020204" charset="-122"/>
              </a:rPr>
              <a:t>Storage / User / Index</a:t>
            </a:r>
            <a:endParaRPr sz="1200" b="1">
              <a:solidFill>
                <a:srgbClr val="334155"/>
              </a:solidFill>
              <a:latin typeface="微软雅黑" panose="020B0503020204020204" charset="-122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8165592" y="2697480"/>
            <a:ext cx="1417320" cy="118872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/>
        </p:txBody>
      </p:sp>
      <p:sp>
        <p:nvSpPr>
          <p:cNvPr id="31" name="Rounded Rectangle 30"/>
          <p:cNvSpPr/>
          <p:nvPr/>
        </p:nvSpPr>
        <p:spPr>
          <a:xfrm>
            <a:off x="9966960" y="2240280"/>
            <a:ext cx="1691640" cy="685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9966960" y="2240280"/>
            <a:ext cx="54864" cy="6858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131552" y="2368296"/>
            <a:ext cx="1417320" cy="22860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r>
              <a:rPr sz="1200" b="1">
                <a:solidFill>
                  <a:srgbClr val="2563EB"/>
                </a:solidFill>
                <a:latin typeface="微软雅黑" panose="020B0503020204020204" charset="-122"/>
              </a:rPr>
              <a:t>QueryResult</a:t>
            </a:r>
            <a:endParaRPr sz="1200" b="1">
              <a:solidFill>
                <a:srgbClr val="2563EB"/>
              </a:solidFill>
              <a:latin typeface="微软雅黑" panose="020B0503020204020204" charset="-122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10131552" y="2697480"/>
            <a:ext cx="1417320" cy="118872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/>
        </p:txBody>
      </p:sp>
      <p:cxnSp>
        <p:nvCxnSpPr>
          <p:cNvPr id="35" name="Connector 34"/>
          <p:cNvCxnSpPr/>
          <p:nvPr/>
        </p:nvCxnSpPr>
        <p:spPr>
          <a:xfrm>
            <a:off x="2514600" y="1901952"/>
            <a:ext cx="960120" cy="676656"/>
          </a:xfrm>
          <a:prstGeom prst="line">
            <a:avLst/>
          </a:prstGeom>
          <a:ln w="17780">
            <a:solidFill>
              <a:srgbClr val="CBD5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 flipV="1">
            <a:off x="2514600" y="2578608"/>
            <a:ext cx="960120" cy="694944"/>
          </a:xfrm>
          <a:prstGeom prst="line">
            <a:avLst/>
          </a:prstGeom>
          <a:ln w="17780">
            <a:solidFill>
              <a:srgbClr val="CBD5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 flipV="1">
            <a:off x="5166360" y="1901952"/>
            <a:ext cx="411480" cy="676656"/>
          </a:xfrm>
          <a:prstGeom prst="line">
            <a:avLst/>
          </a:prstGeom>
          <a:ln w="17780">
            <a:solidFill>
              <a:srgbClr val="CBD5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7269480" y="1901952"/>
            <a:ext cx="731520" cy="676656"/>
          </a:xfrm>
          <a:prstGeom prst="line">
            <a:avLst/>
          </a:prstGeom>
          <a:ln w="17780">
            <a:solidFill>
              <a:srgbClr val="CBD5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 flipV="1">
            <a:off x="7269480" y="2578608"/>
            <a:ext cx="731520" cy="694944"/>
          </a:xfrm>
          <a:prstGeom prst="line">
            <a:avLst/>
          </a:prstGeom>
          <a:ln w="17780">
            <a:solidFill>
              <a:srgbClr val="CBD5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9692640" y="2578608"/>
            <a:ext cx="274320" cy="0"/>
          </a:xfrm>
          <a:prstGeom prst="line">
            <a:avLst/>
          </a:prstGeom>
          <a:ln w="17780">
            <a:solidFill>
              <a:srgbClr val="CBD5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TextBox 40"/>
          <p:cNvSpPr txBox="1"/>
          <p:nvPr/>
        </p:nvSpPr>
        <p:spPr>
          <a:xfrm>
            <a:off x="822960" y="4709160"/>
            <a:ext cx="10515600" cy="914400"/>
          </a:xfrm>
          <a:prstGeom prst="rect">
            <a:avLst/>
          </a:prstGeom>
          <a:noFill/>
        </p:spPr>
        <p:txBody>
          <a:bodyPr wrap="square" lIns="73152" rIns="54864">
            <a:spAutoFit/>
          </a:bodyPr>
          <a:lstStyle/>
          <a:p>
            <a:pPr>
              <a:spcAft>
                <a:spcPts val="500"/>
              </a:spcAft>
              <a:defRPr sz="1700">
                <a:solidFill>
                  <a:srgbClr val="0F172A"/>
                </a:solidFill>
                <a:latin typeface="微软雅黑" panose="020B0503020204020204" charset="-122"/>
              </a:defRPr>
            </a:pPr>
            <a:r>
              <a:t>统一入口避免 CLI 和 Qt 行为不一致。</a:t>
            </a:r>
          </a:p>
          <a:p>
            <a:pPr>
              <a:spcAft>
                <a:spcPts val="500"/>
              </a:spcAft>
              <a:defRPr sz="1700">
                <a:solidFill>
                  <a:srgbClr val="0F172A"/>
                </a:solidFill>
                <a:latin typeface="微软雅黑" panose="020B0503020204020204" charset="-122"/>
              </a:defRPr>
            </a:pPr>
            <a:r>
              <a:t>Parser 负责语法结构，Executor 负责权限、约束、扫描、聚合和事务。</a:t>
            </a:r>
          </a:p>
          <a:p>
            <a:pPr>
              <a:spcAft>
                <a:spcPts val="500"/>
              </a:spcAft>
              <a:defRPr sz="1700">
                <a:solidFill>
                  <a:srgbClr val="0F172A"/>
                </a:solidFill>
                <a:latin typeface="微软雅黑" panose="020B0503020204020204" charset="-122"/>
              </a:defRPr>
            </a:pPr>
            <a:r>
              <a:t>所有成功、错误和表格结果都通过 QueryResult 返回。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10896"/>
            <a:ext cx="2743200" cy="22860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r>
              <a:rPr sz="950" b="1">
                <a:solidFill>
                  <a:srgbClr val="2563EB"/>
                </a:solidFill>
                <a:latin typeface="微软雅黑" panose="020B0503020204020204" charset="-122"/>
              </a:rPr>
              <a:t>赵杰雄</a:t>
            </a:r>
            <a:endParaRPr sz="950" b="1">
              <a:solidFill>
                <a:srgbClr val="2563EB"/>
              </a:solidFill>
              <a:latin typeface="微软雅黑" panose="020B050302020402020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9052560" cy="50292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r>
              <a:rPr sz="2500" b="1">
                <a:solidFill>
                  <a:srgbClr val="0F172A"/>
                </a:solidFill>
                <a:latin typeface="微软雅黑" panose="020B0503020204020204" charset="-122"/>
              </a:rPr>
              <a:t>项目管理 / 架构 / 集成：统一接口先行</a:t>
            </a:r>
            <a:endParaRPr sz="2500" b="1">
              <a:solidFill>
                <a:srgbClr val="0F172A"/>
              </a:solidFill>
              <a:latin typeface="微软雅黑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1109960" y="320040"/>
            <a:ext cx="502920" cy="27432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 algn="r"/>
            <a:r>
              <a:rPr sz="1000" b="1">
                <a:solidFill>
                  <a:srgbClr val="475569"/>
                </a:solidFill>
                <a:latin typeface="微软雅黑" panose="020B0503020204020204" charset="-122"/>
              </a:rPr>
              <a:t>05</a:t>
            </a:r>
            <a:endParaRPr sz="1000" b="1">
              <a:solidFill>
                <a:srgbClr val="475569"/>
              </a:solidFill>
              <a:latin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3840480" cy="201168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r>
              <a:rPr sz="850" b="0">
                <a:solidFill>
                  <a:srgbClr val="475569"/>
                </a:solidFill>
                <a:latin typeface="微软雅黑" panose="020B0503020204020204" charset="-122"/>
              </a:rPr>
              <a:t>DBMS-5 · 成员分工 · 实现与演示</a:t>
            </a:r>
            <a:endParaRPr sz="850" b="0">
              <a:solidFill>
                <a:srgbClr val="475569"/>
              </a:solidFill>
              <a:latin typeface="微软雅黑" panose="020B0503020204020204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02920" y="1097280"/>
            <a:ext cx="2011680" cy="32004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r>
              <a:rPr sz="1800" b="1">
                <a:solidFill>
                  <a:srgbClr val="2563EB"/>
                </a:solidFill>
                <a:latin typeface="微软雅黑" panose="020B0503020204020204" charset="-122"/>
              </a:rPr>
              <a:t>赵杰雄（组长）</a:t>
            </a:r>
            <a:endParaRPr sz="1800" b="1">
              <a:solidFill>
                <a:srgbClr val="2563EB"/>
              </a:solidFill>
              <a:latin typeface="微软雅黑" panose="020B0503020204020204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2423160" y="1097280"/>
            <a:ext cx="6400800" cy="32004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r>
              <a:rPr sz="1400" b="0">
                <a:solidFill>
                  <a:srgbClr val="475569"/>
                </a:solidFill>
                <a:latin typeface="微软雅黑" panose="020B0503020204020204" charset="-122"/>
              </a:rPr>
              <a:t>项目管理 / 架构 / 集成</a:t>
            </a:r>
            <a:endParaRPr sz="1400" b="0">
              <a:solidFill>
                <a:srgbClr val="475569"/>
              </a:solidFill>
              <a:latin typeface="微软雅黑" panose="020B0503020204020204" charset="-122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502920" y="1481328"/>
            <a:ext cx="10698480" cy="1828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85800" y="1828800"/>
            <a:ext cx="3337560" cy="1143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85800" y="1828800"/>
            <a:ext cx="54864" cy="1143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50392" y="1956816"/>
            <a:ext cx="3063240" cy="22860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r>
              <a:rPr sz="1300" b="1">
                <a:solidFill>
                  <a:srgbClr val="2563EB"/>
                </a:solidFill>
                <a:latin typeface="微软雅黑" panose="020B0503020204020204" charset="-122"/>
              </a:rPr>
              <a:t>职责范围</a:t>
            </a:r>
            <a:endParaRPr sz="1300" b="1">
              <a:solidFill>
                <a:srgbClr val="2563EB"/>
              </a:solidFill>
              <a:latin typeface="微软雅黑" panose="020B0503020204020204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850392" y="2286000"/>
            <a:ext cx="3063240" cy="576072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r>
              <a:rPr sz="1150" b="0">
                <a:solidFill>
                  <a:srgbClr val="0F172A"/>
                </a:solidFill>
                <a:latin typeface="微软雅黑" panose="020B0503020204020204" charset="-122"/>
              </a:rPr>
              <a:t>统筹 12 周开发计划，冻结模块边界和接口约定，协调后端、CLI、Qt、安全测试汇合。</a:t>
            </a:r>
            <a:endParaRPr sz="1150" b="0">
              <a:solidFill>
                <a:srgbClr val="0F172A"/>
              </a:solidFill>
              <a:latin typeface="微软雅黑" panose="020B0503020204020204" charset="-122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4343400" y="1828800"/>
            <a:ext cx="3337560" cy="1143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43400" y="1828800"/>
            <a:ext cx="54864" cy="114300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07992" y="1956816"/>
            <a:ext cx="3063240" cy="22860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r>
              <a:rPr sz="1300" b="1">
                <a:solidFill>
                  <a:srgbClr val="059669"/>
                </a:solidFill>
                <a:latin typeface="微软雅黑" panose="020B0503020204020204" charset="-122"/>
              </a:rPr>
              <a:t>实现抓手</a:t>
            </a:r>
            <a:endParaRPr sz="1300" b="1">
              <a:solidFill>
                <a:srgbClr val="059669"/>
              </a:solidFill>
              <a:latin typeface="微软雅黑" panose="020B0503020204020204" charset="-122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4507992" y="2286000"/>
            <a:ext cx="3063240" cy="576072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r>
              <a:rPr sz="1150" b="0">
                <a:solidFill>
                  <a:srgbClr val="0F172A"/>
                </a:solidFill>
                <a:latin typeface="微软雅黑" panose="020B0503020204020204" charset="-122"/>
              </a:rPr>
              <a:t>以 DBEngine::execute(sql, session) 作为唯一执行入口，QueryResult 作为统一返回协议。</a:t>
            </a:r>
            <a:endParaRPr sz="1150" b="0">
              <a:solidFill>
                <a:srgbClr val="0F172A"/>
              </a:solidFill>
              <a:latin typeface="微软雅黑" panose="020B0503020204020204" charset="-122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8001000" y="1828800"/>
            <a:ext cx="3337560" cy="1143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001000" y="1828800"/>
            <a:ext cx="54864" cy="114300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165592" y="1956816"/>
            <a:ext cx="3063240" cy="22860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r>
              <a:rPr sz="1300" b="1">
                <a:solidFill>
                  <a:srgbClr val="D97706"/>
                </a:solidFill>
                <a:latin typeface="微软雅黑" panose="020B0503020204020204" charset="-122"/>
              </a:rPr>
              <a:t>验收证据</a:t>
            </a:r>
            <a:endParaRPr sz="1300" b="1">
              <a:solidFill>
                <a:srgbClr val="D97706"/>
              </a:solidFill>
              <a:latin typeface="微软雅黑" panose="020B0503020204020204" charset="-122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8165592" y="2286000"/>
            <a:ext cx="3063240" cy="576072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r>
              <a:rPr sz="1150" b="0">
                <a:solidFill>
                  <a:srgbClr val="0F172A"/>
                </a:solidFill>
                <a:latin typeface="微软雅黑" panose="020B0503020204020204" charset="-122"/>
              </a:rPr>
              <a:t>CLI、Qt 两种入口调用同一后端；CTest、演示 SQL、恢复脚本和录屏互相验证。</a:t>
            </a:r>
            <a:endParaRPr sz="1150" b="0">
              <a:solidFill>
                <a:srgbClr val="0F172A"/>
              </a:solidFill>
              <a:latin typeface="微软雅黑" panose="020B0503020204020204" charset="-122"/>
            </a:endParaRPr>
          </a:p>
        </p:txBody>
      </p:sp>
      <p:sp>
        <p:nvSpPr>
          <p:cNvPr id="22" name="Rounded Rectangle 21"/>
          <p:cNvSpPr/>
          <p:nvPr/>
        </p:nvSpPr>
        <p:spPr>
          <a:xfrm>
            <a:off x="914400" y="3794760"/>
            <a:ext cx="4754880" cy="1691640"/>
          </a:xfrm>
          <a:prstGeom prst="roundRect">
            <a:avLst>
              <a:gd name="adj" fmla="val 4000"/>
            </a:avLst>
          </a:prstGeom>
          <a:solidFill>
            <a:srgbClr val="0F172A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78992" y="3922776"/>
            <a:ext cx="4480560" cy="1472184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r>
              <a:rPr sz="1400" b="0">
                <a:solidFill>
                  <a:srgbClr val="E2E8F0"/>
                </a:solidFill>
                <a:latin typeface="Consolas" panose="020B0609020204030204"/>
              </a:rPr>
              <a:t>DBEngine::execute(sql, session)</a:t>
            </a:r>
            <a:br>
              <a:rPr sz="1400" b="0">
                <a:solidFill>
                  <a:srgbClr val="E2E8F0"/>
                </a:solidFill>
                <a:latin typeface="Consolas" panose="020B0609020204030204"/>
              </a:rPr>
            </a:br>
            <a:r>
              <a:rPr sz="1400" b="0">
                <a:solidFill>
                  <a:srgbClr val="E2E8F0"/>
                </a:solidFill>
                <a:latin typeface="Consolas" panose="020B0609020204030204"/>
              </a:rPr>
              <a:t>  -&gt; Lexer::tokenize</a:t>
            </a:r>
            <a:br>
              <a:rPr sz="1400" b="0">
                <a:solidFill>
                  <a:srgbClr val="E2E8F0"/>
                </a:solidFill>
                <a:latin typeface="Consolas" panose="020B0609020204030204"/>
              </a:rPr>
            </a:br>
            <a:r>
              <a:rPr sz="1400" b="0">
                <a:solidFill>
                  <a:srgbClr val="E2E8F0"/>
                </a:solidFill>
                <a:latin typeface="Consolas" panose="020B0609020204030204"/>
              </a:rPr>
              <a:t>  -&gt; Parser::parse</a:t>
            </a:r>
            <a:br>
              <a:rPr sz="1400" b="0">
                <a:solidFill>
                  <a:srgbClr val="E2E8F0"/>
                </a:solidFill>
                <a:latin typeface="Consolas" panose="020B0609020204030204"/>
              </a:rPr>
            </a:br>
            <a:r>
              <a:rPr sz="1400" b="0">
                <a:solidFill>
                  <a:srgbClr val="E2E8F0"/>
                </a:solidFill>
                <a:latin typeface="Consolas" panose="020B0609020204030204"/>
              </a:rPr>
              <a:t>  -&gt; Executor::execute</a:t>
            </a:r>
            <a:br>
              <a:rPr sz="1400" b="0">
                <a:solidFill>
                  <a:srgbClr val="E2E8F0"/>
                </a:solidFill>
                <a:latin typeface="Consolas" panose="020B0609020204030204"/>
              </a:rPr>
            </a:br>
            <a:r>
              <a:rPr sz="1400" b="0">
                <a:solidFill>
                  <a:srgbClr val="E2E8F0"/>
                </a:solidFill>
                <a:latin typeface="Consolas" panose="020B0609020204030204"/>
              </a:rPr>
              <a:t>  -&gt; QueryResult</a:t>
            </a:r>
            <a:endParaRPr sz="1400" b="0">
              <a:solidFill>
                <a:srgbClr val="E2E8F0"/>
              </a:solidFill>
              <a:latin typeface="Consolas" panose="020B0609020204030204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6080760" y="3840480"/>
            <a:ext cx="5120640" cy="1508760"/>
          </a:xfrm>
          <a:prstGeom prst="rect">
            <a:avLst/>
          </a:prstGeom>
          <a:noFill/>
        </p:spPr>
        <p:txBody>
          <a:bodyPr wrap="square" lIns="73152" rIns="54864">
            <a:spAutoFit/>
          </a:bodyPr>
          <a:lstStyle/>
          <a:p>
            <a:pPr>
              <a:spcAft>
                <a:spcPts val="500"/>
              </a:spcAft>
              <a:defRPr sz="1600">
                <a:solidFill>
                  <a:srgbClr val="0F172A"/>
                </a:solidFill>
                <a:latin typeface="微软雅黑" panose="020B0503020204020204" charset="-122"/>
              </a:defRPr>
            </a:pPr>
            <a:r>
              <a:t>讲解重点：不是把功能分散在多个入口里，而是让 CLI 和 Qt 复用同一条后端链路。</a:t>
            </a:r>
          </a:p>
          <a:p>
            <a:pPr>
              <a:spcAft>
                <a:spcPts val="500"/>
              </a:spcAft>
              <a:defRPr sz="1600">
                <a:solidFill>
                  <a:srgbClr val="0F172A"/>
                </a:solidFill>
                <a:latin typeface="微软雅黑" panose="020B0503020204020204" charset="-122"/>
              </a:defRPr>
            </a:pPr>
            <a:r>
              <a:t>结果证明：相同 SQL 在 CLI 与 Qt 中返回相同的表格、错误和 affectedRows。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10896"/>
            <a:ext cx="2743200" cy="22860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r>
              <a:rPr sz="950" b="1">
                <a:solidFill>
                  <a:srgbClr val="2563EB"/>
                </a:solidFill>
                <a:latin typeface="微软雅黑" panose="020B0503020204020204" charset="-122"/>
              </a:rPr>
              <a:t>赵杰雄</a:t>
            </a:r>
            <a:endParaRPr sz="950" b="1">
              <a:solidFill>
                <a:srgbClr val="2563EB"/>
              </a:solidFill>
              <a:latin typeface="微软雅黑" panose="020B050302020402020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9052560" cy="50292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r>
              <a:rPr sz="2500" b="1">
                <a:solidFill>
                  <a:srgbClr val="0F172A"/>
                </a:solidFill>
                <a:latin typeface="微软雅黑" panose="020B0503020204020204" charset="-122"/>
              </a:rPr>
              <a:t>集成交付：测试、脚本、录屏形成闭环</a:t>
            </a:r>
            <a:endParaRPr sz="2500" b="1">
              <a:solidFill>
                <a:srgbClr val="0F172A"/>
              </a:solidFill>
              <a:latin typeface="微软雅黑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1109960" y="320040"/>
            <a:ext cx="502920" cy="27432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 algn="r"/>
            <a:r>
              <a:rPr sz="1000" b="1">
                <a:solidFill>
                  <a:srgbClr val="475569"/>
                </a:solidFill>
                <a:latin typeface="微软雅黑" panose="020B0503020204020204" charset="-122"/>
              </a:rPr>
              <a:t>06</a:t>
            </a:r>
            <a:endParaRPr sz="1000" b="1">
              <a:solidFill>
                <a:srgbClr val="475569"/>
              </a:solidFill>
              <a:latin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3840480" cy="201168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r>
              <a:rPr sz="850" b="0">
                <a:solidFill>
                  <a:srgbClr val="475569"/>
                </a:solidFill>
                <a:latin typeface="微软雅黑" panose="020B0503020204020204" charset="-122"/>
              </a:rPr>
              <a:t>DBMS-5 · 成员分工 · 实现与演示</a:t>
            </a:r>
            <a:endParaRPr sz="850" b="0">
              <a:solidFill>
                <a:srgbClr val="475569"/>
              </a:solidFill>
              <a:latin typeface="微软雅黑" panose="020B0503020204020204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02920" y="1097280"/>
            <a:ext cx="2011680" cy="32004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r>
              <a:rPr sz="1800" b="1">
                <a:solidFill>
                  <a:srgbClr val="2563EB"/>
                </a:solidFill>
                <a:latin typeface="微软雅黑" panose="020B0503020204020204" charset="-122"/>
              </a:rPr>
              <a:t>赵杰雄（组长）</a:t>
            </a:r>
            <a:endParaRPr sz="1800" b="1">
              <a:solidFill>
                <a:srgbClr val="2563EB"/>
              </a:solidFill>
              <a:latin typeface="微软雅黑" panose="020B0503020204020204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2423160" y="1097280"/>
            <a:ext cx="6400800" cy="32004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r>
              <a:rPr sz="1400" b="0">
                <a:solidFill>
                  <a:srgbClr val="475569"/>
                </a:solidFill>
                <a:latin typeface="微软雅黑" panose="020B0503020204020204" charset="-122"/>
              </a:rPr>
              <a:t>版本集成 / 测试验收 / 最终交付</a:t>
            </a:r>
            <a:endParaRPr sz="1400" b="0">
              <a:solidFill>
                <a:srgbClr val="475569"/>
              </a:solidFill>
              <a:latin typeface="微软雅黑" panose="020B0503020204020204" charset="-122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502920" y="1481328"/>
            <a:ext cx="10698480" cy="1828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31520" y="1783080"/>
            <a:ext cx="3200400" cy="1234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31520" y="1783080"/>
            <a:ext cx="54864" cy="12344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96112" y="1911095"/>
            <a:ext cx="2926080" cy="22860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r>
              <a:rPr sz="1300" b="1">
                <a:solidFill>
                  <a:srgbClr val="2563EB"/>
                </a:solidFill>
                <a:latin typeface="微软雅黑" panose="020B0503020204020204" charset="-122"/>
              </a:rPr>
              <a:t>文档交付</a:t>
            </a:r>
            <a:endParaRPr sz="1300" b="1">
              <a:solidFill>
                <a:srgbClr val="2563EB"/>
              </a:solidFill>
              <a:latin typeface="微软雅黑" panose="020B0503020204020204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896112" y="2240280"/>
            <a:ext cx="2926080" cy="667512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r>
              <a:rPr sz="1150" b="0">
                <a:solidFill>
                  <a:srgbClr val="0F172A"/>
                </a:solidFill>
                <a:latin typeface="微软雅黑" panose="020B0503020204020204" charset="-122"/>
              </a:rPr>
              <a:t>启动报告、关闭报告、需求分析、设计报告、测试报告、用户手册、演示方案、录屏脚本。</a:t>
            </a:r>
            <a:endParaRPr sz="1150" b="0">
              <a:solidFill>
                <a:srgbClr val="0F172A"/>
              </a:solidFill>
              <a:latin typeface="微软雅黑" panose="020B0503020204020204" charset="-122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4480560" y="1783080"/>
            <a:ext cx="3200400" cy="1234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480560" y="1783080"/>
            <a:ext cx="54864" cy="123444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645152" y="1911095"/>
            <a:ext cx="2926080" cy="22860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r>
              <a:rPr sz="1300" b="1">
                <a:solidFill>
                  <a:srgbClr val="059669"/>
                </a:solidFill>
                <a:latin typeface="微软雅黑" panose="020B0503020204020204" charset="-122"/>
              </a:rPr>
              <a:t>脚本交付</a:t>
            </a:r>
            <a:endParaRPr sz="1300" b="1">
              <a:solidFill>
                <a:srgbClr val="059669"/>
              </a:solidFill>
              <a:latin typeface="微软雅黑" panose="020B0503020204020204" charset="-122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4645152" y="2240280"/>
            <a:ext cx="2926080" cy="667512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r>
              <a:rPr sz="1150" b="0">
                <a:solidFill>
                  <a:srgbClr val="0F172A"/>
                </a:solidFill>
                <a:latin typeface="微软雅黑" panose="020B0503020204020204" charset="-122"/>
              </a:rPr>
              <a:t>full_acceptance_demo.sql、cli_step_demo.sql、reset_qt_demo.sql 支撑重复演示。</a:t>
            </a:r>
            <a:endParaRPr sz="1150" b="0">
              <a:solidFill>
                <a:srgbClr val="0F172A"/>
              </a:solidFill>
              <a:latin typeface="微软雅黑" panose="020B0503020204020204" charset="-122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8229600" y="1783080"/>
            <a:ext cx="3200400" cy="1234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229600" y="1783080"/>
            <a:ext cx="54864" cy="123444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394192" y="1911095"/>
            <a:ext cx="2926080" cy="22860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r>
              <a:rPr sz="1300" b="1">
                <a:solidFill>
                  <a:srgbClr val="D97706"/>
                </a:solidFill>
                <a:latin typeface="微软雅黑" panose="020B0503020204020204" charset="-122"/>
              </a:rPr>
              <a:t>验证交付</a:t>
            </a:r>
            <a:endParaRPr sz="1300" b="1">
              <a:solidFill>
                <a:srgbClr val="D97706"/>
              </a:solidFill>
              <a:latin typeface="微软雅黑" panose="020B0503020204020204" charset="-122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8394192" y="2240280"/>
            <a:ext cx="2926080" cy="667512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r>
              <a:rPr sz="1150" b="0">
                <a:solidFill>
                  <a:srgbClr val="0F172A"/>
                </a:solidFill>
                <a:latin typeface="微软雅黑" panose="020B0503020204020204" charset="-122"/>
              </a:rPr>
              <a:t>ctest 全量测试、Qt UI 冒烟测试、CLI 逐句截图、录屏视频。</a:t>
            </a:r>
            <a:endParaRPr sz="1150" b="0">
              <a:solidFill>
                <a:srgbClr val="0F172A"/>
              </a:solidFill>
              <a:latin typeface="微软雅黑" panose="020B0503020204020204" charset="-122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868680" y="3977639"/>
            <a:ext cx="10515600" cy="1143000"/>
          </a:xfrm>
          <a:prstGeom prst="rect">
            <a:avLst/>
          </a:prstGeom>
          <a:noFill/>
        </p:spPr>
        <p:txBody>
          <a:bodyPr wrap="square" lIns="73152" rIns="54864">
            <a:spAutoFit/>
          </a:bodyPr>
          <a:lstStyle/>
          <a:p>
            <a:pPr>
              <a:spcAft>
                <a:spcPts val="500"/>
              </a:spcAft>
              <a:defRPr sz="1800">
                <a:solidFill>
                  <a:srgbClr val="0F172A"/>
                </a:solidFill>
                <a:latin typeface="微软雅黑" panose="020B0503020204020204" charset="-122"/>
              </a:defRPr>
            </a:pPr>
            <a:r>
              <a:t>交付逻辑：文档解释设计，SQL 脚本证明功能，录屏展示界面，恢复脚本保证可重复。</a:t>
            </a:r>
          </a:p>
          <a:p>
            <a:pPr>
              <a:spcAft>
                <a:spcPts val="500"/>
              </a:spcAft>
              <a:defRPr sz="1800">
                <a:solidFill>
                  <a:srgbClr val="0F172A"/>
                </a:solidFill>
                <a:latin typeface="微软雅黑" panose="020B0503020204020204" charset="-122"/>
              </a:defRPr>
            </a:pPr>
            <a:r>
              <a:t>现场出现残留数据时，先执行 reset 脚本，再重新运行 CLI 或 Qt 演示。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10896"/>
            <a:ext cx="2743200" cy="22860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r>
              <a:rPr sz="950" b="1">
                <a:solidFill>
                  <a:srgbClr val="059669"/>
                </a:solidFill>
                <a:latin typeface="微软雅黑" panose="020B0503020204020204" charset="-122"/>
              </a:rPr>
              <a:t>项重善</a:t>
            </a:r>
            <a:endParaRPr sz="950" b="1">
              <a:solidFill>
                <a:srgbClr val="059669"/>
              </a:solidFill>
              <a:latin typeface="微软雅黑" panose="020B050302020402020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9052560" cy="50292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r>
              <a:rPr sz="2500" b="1">
                <a:solidFill>
                  <a:srgbClr val="0F172A"/>
                </a:solidFill>
                <a:latin typeface="微软雅黑" panose="020B0503020204020204" charset="-122"/>
              </a:rPr>
              <a:t>后端存储与索引：库表记录落到本地文件</a:t>
            </a:r>
            <a:endParaRPr sz="2500" b="1">
              <a:solidFill>
                <a:srgbClr val="0F172A"/>
              </a:solidFill>
              <a:latin typeface="微软雅黑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1109960" y="320040"/>
            <a:ext cx="502920" cy="27432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 algn="r"/>
            <a:r>
              <a:rPr sz="1000" b="1">
                <a:solidFill>
                  <a:srgbClr val="475569"/>
                </a:solidFill>
                <a:latin typeface="微软雅黑" panose="020B0503020204020204" charset="-122"/>
              </a:rPr>
              <a:t>07</a:t>
            </a:r>
            <a:endParaRPr sz="1000" b="1">
              <a:solidFill>
                <a:srgbClr val="475569"/>
              </a:solidFill>
              <a:latin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3840480" cy="201168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r>
              <a:rPr sz="850" b="0">
                <a:solidFill>
                  <a:srgbClr val="475569"/>
                </a:solidFill>
                <a:latin typeface="微软雅黑" panose="020B0503020204020204" charset="-122"/>
              </a:rPr>
              <a:t>DBMS-5 · 成员分工 · 实现与演示</a:t>
            </a:r>
            <a:endParaRPr sz="850" b="0">
              <a:solidFill>
                <a:srgbClr val="475569"/>
              </a:solidFill>
              <a:latin typeface="微软雅黑" panose="020B0503020204020204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02920" y="1097280"/>
            <a:ext cx="2011680" cy="32004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r>
              <a:rPr sz="1800" b="1">
                <a:solidFill>
                  <a:srgbClr val="059669"/>
                </a:solidFill>
                <a:latin typeface="微软雅黑" panose="020B0503020204020204" charset="-122"/>
              </a:rPr>
              <a:t>项重善</a:t>
            </a:r>
            <a:endParaRPr sz="1800" b="1">
              <a:solidFill>
                <a:srgbClr val="059669"/>
              </a:solidFill>
              <a:latin typeface="微软雅黑" panose="020B0503020204020204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2423160" y="1097280"/>
            <a:ext cx="6400800" cy="32004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r>
              <a:rPr sz="1400" b="0">
                <a:solidFill>
                  <a:srgbClr val="475569"/>
                </a:solidFill>
                <a:latin typeface="微软雅黑" panose="020B0503020204020204" charset="-122"/>
              </a:rPr>
              <a:t>后端存储与索引</a:t>
            </a:r>
            <a:endParaRPr sz="1400" b="0">
              <a:solidFill>
                <a:srgbClr val="475569"/>
              </a:solidFill>
              <a:latin typeface="微软雅黑" panose="020B0503020204020204" charset="-122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502920" y="1481328"/>
            <a:ext cx="10698480" cy="18288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85800" y="1828800"/>
            <a:ext cx="2606040" cy="1051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85800" y="1828800"/>
            <a:ext cx="54864" cy="105156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50392" y="1956816"/>
            <a:ext cx="2331720" cy="22860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r>
              <a:rPr sz="1300" b="1">
                <a:solidFill>
                  <a:srgbClr val="059669"/>
                </a:solidFill>
                <a:latin typeface="微软雅黑" panose="020B0503020204020204" charset="-122"/>
              </a:rPr>
              <a:t>DatabaseManager</a:t>
            </a:r>
            <a:endParaRPr sz="1300" b="1">
              <a:solidFill>
                <a:srgbClr val="059669"/>
              </a:solidFill>
              <a:latin typeface="微软雅黑" panose="020B0503020204020204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850392" y="2286000"/>
            <a:ext cx="2331720" cy="484631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r>
              <a:rPr sz="1150" b="0">
                <a:solidFill>
                  <a:srgbClr val="0F172A"/>
                </a:solidFill>
                <a:latin typeface="微软雅黑" panose="020B0503020204020204" charset="-122"/>
              </a:rPr>
              <a:t>管理数据库目录和系统级元信息，支持 CREATE / DROP / SHOW DATABASES。</a:t>
            </a:r>
            <a:endParaRPr sz="1150" b="0">
              <a:solidFill>
                <a:srgbClr val="0F172A"/>
              </a:solidFill>
              <a:latin typeface="微软雅黑" panose="020B0503020204020204" charset="-122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3611880" y="1828800"/>
            <a:ext cx="2606040" cy="1051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611880" y="1828800"/>
            <a:ext cx="54864" cy="105156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776472" y="1956816"/>
            <a:ext cx="2331720" cy="22860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r>
              <a:rPr sz="1300" b="1">
                <a:solidFill>
                  <a:srgbClr val="2563EB"/>
                </a:solidFill>
                <a:latin typeface="微软雅黑" panose="020B0503020204020204" charset="-122"/>
              </a:rPr>
              <a:t>TableManager</a:t>
            </a:r>
            <a:endParaRPr sz="1300" b="1">
              <a:solidFill>
                <a:srgbClr val="2563EB"/>
              </a:solidFill>
              <a:latin typeface="微软雅黑" panose="020B0503020204020204" charset="-122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3776472" y="2286000"/>
            <a:ext cx="2331720" cy="484631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r>
              <a:rPr sz="1150" b="0">
                <a:solidFill>
                  <a:srgbClr val="0F172A"/>
                </a:solidFill>
                <a:latin typeface="微软雅黑" panose="020B0503020204020204" charset="-122"/>
              </a:rPr>
              <a:t>保存表结构定义、字段类型、主键、非空、唯一、默认值和外键元信息。</a:t>
            </a:r>
            <a:endParaRPr sz="1150" b="0">
              <a:solidFill>
                <a:srgbClr val="0F172A"/>
              </a:solidFill>
              <a:latin typeface="微软雅黑" panose="020B0503020204020204" charset="-122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6537960" y="1828800"/>
            <a:ext cx="2606040" cy="1051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537960" y="1828800"/>
            <a:ext cx="54864" cy="105156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702552" y="1956816"/>
            <a:ext cx="2331720" cy="22860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r>
              <a:rPr sz="1300" b="1">
                <a:solidFill>
                  <a:srgbClr val="D97706"/>
                </a:solidFill>
                <a:latin typeface="微软雅黑" panose="020B0503020204020204" charset="-122"/>
              </a:rPr>
              <a:t>RecordManager</a:t>
            </a:r>
            <a:endParaRPr sz="1300" b="1">
              <a:solidFill>
                <a:srgbClr val="D97706"/>
              </a:solidFill>
              <a:latin typeface="微软雅黑" panose="020B0503020204020204" charset="-122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6702552" y="2286000"/>
            <a:ext cx="2331720" cy="484631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r>
              <a:rPr sz="1150" b="0">
                <a:solidFill>
                  <a:srgbClr val="0F172A"/>
                </a:solidFill>
                <a:latin typeface="微软雅黑" panose="020B0503020204020204" charset="-122"/>
              </a:rPr>
              <a:t>负责记录文件读写，INSERT / UPDATE / DELETE 之后持久化数据。</a:t>
            </a:r>
            <a:endParaRPr sz="1150" b="0">
              <a:solidFill>
                <a:srgbClr val="0F172A"/>
              </a:solidFill>
              <a:latin typeface="微软雅黑" panose="020B0503020204020204" charset="-122"/>
            </a:endParaRPr>
          </a:p>
        </p:txBody>
      </p:sp>
      <p:sp>
        <p:nvSpPr>
          <p:cNvPr id="22" name="Rounded Rectangle 21"/>
          <p:cNvSpPr/>
          <p:nvPr/>
        </p:nvSpPr>
        <p:spPr>
          <a:xfrm>
            <a:off x="9464040" y="1828800"/>
            <a:ext cx="1965960" cy="1051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9464040" y="1828800"/>
            <a:ext cx="54864" cy="105156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628632" y="1956816"/>
            <a:ext cx="1691639" cy="22860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r>
              <a:rPr sz="1300" b="1">
                <a:solidFill>
                  <a:srgbClr val="334155"/>
                </a:solidFill>
                <a:latin typeface="微软雅黑" panose="020B0503020204020204" charset="-122"/>
              </a:rPr>
              <a:t>文件证据</a:t>
            </a:r>
            <a:endParaRPr sz="1300" b="1">
              <a:solidFill>
                <a:srgbClr val="334155"/>
              </a:solidFill>
              <a:latin typeface="微软雅黑" panose="020B0503020204020204" charset="-122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9628632" y="2286000"/>
            <a:ext cx="1691639" cy="484631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r>
              <a:rPr sz="1150" b="0">
                <a:solidFill>
                  <a:srgbClr val="0F172A"/>
                </a:solidFill>
                <a:latin typeface="微软雅黑" panose="020B0503020204020204" charset="-122"/>
              </a:rPr>
              <a:t>.tdf / .trd / .tix / wal.log</a:t>
            </a:r>
            <a:endParaRPr sz="1150" b="0">
              <a:solidFill>
                <a:srgbClr val="0F172A"/>
              </a:solidFill>
              <a:latin typeface="微软雅黑" panose="020B0503020204020204" charset="-122"/>
            </a:endParaRPr>
          </a:p>
        </p:txBody>
      </p:sp>
      <p:sp>
        <p:nvSpPr>
          <p:cNvPr id="26" name="Rounded Rectangle 25"/>
          <p:cNvSpPr/>
          <p:nvPr/>
        </p:nvSpPr>
        <p:spPr>
          <a:xfrm>
            <a:off x="822960" y="3840480"/>
            <a:ext cx="4937760" cy="1645920"/>
          </a:xfrm>
          <a:prstGeom prst="roundRect">
            <a:avLst>
              <a:gd name="adj" fmla="val 4000"/>
            </a:avLst>
          </a:prstGeom>
          <a:solidFill>
            <a:srgbClr val="0F172A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87552" y="3968496"/>
            <a:ext cx="4663440" cy="1426464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r>
              <a:rPr sz="1300" b="0">
                <a:solidFill>
                  <a:srgbClr val="E2E8F0"/>
                </a:solidFill>
                <a:latin typeface="Consolas" panose="020B0609020204030204"/>
              </a:rPr>
              <a:t>CREATE TABLE users (...);</a:t>
            </a:r>
            <a:br>
              <a:rPr sz="1300" b="0">
                <a:solidFill>
                  <a:srgbClr val="E2E8F0"/>
                </a:solidFill>
                <a:latin typeface="Consolas" panose="020B0609020204030204"/>
              </a:rPr>
            </a:br>
            <a:r>
              <a:rPr sz="1300" b="0">
                <a:solidFill>
                  <a:srgbClr val="E2E8F0"/>
                </a:solidFill>
                <a:latin typeface="Consolas" panose="020B0609020204030204"/>
              </a:rPr>
              <a:t>INSERT INTO users (...);</a:t>
            </a:r>
            <a:br>
              <a:rPr sz="1300" b="0">
                <a:solidFill>
                  <a:srgbClr val="E2E8F0"/>
                </a:solidFill>
                <a:latin typeface="Consolas" panose="020B0609020204030204"/>
              </a:rPr>
            </a:br>
            <a:r>
              <a:rPr sz="1300" b="0">
                <a:solidFill>
                  <a:srgbClr val="E2E8F0"/>
                </a:solidFill>
                <a:latin typeface="Consolas" panose="020B0609020204030204"/>
              </a:rPr>
              <a:t>SELECT uid, name FROM users;</a:t>
            </a:r>
            <a:br>
              <a:rPr sz="1300" b="0">
                <a:solidFill>
                  <a:srgbClr val="E2E8F0"/>
                </a:solidFill>
                <a:latin typeface="Consolas" panose="020B0609020204030204"/>
              </a:rPr>
            </a:br>
            <a:br>
              <a:rPr sz="1300" b="0">
                <a:solidFill>
                  <a:srgbClr val="E2E8F0"/>
                </a:solidFill>
                <a:latin typeface="Consolas" panose="020B0609020204030204"/>
              </a:rPr>
            </a:br>
            <a:r>
              <a:rPr sz="1300" b="0">
                <a:solidFill>
                  <a:srgbClr val="E2E8F0"/>
                </a:solidFill>
                <a:latin typeface="Consolas" panose="020B0609020204030204"/>
              </a:rPr>
              <a:t>结果：结构文件 + 记录文件同时变化</a:t>
            </a:r>
            <a:endParaRPr sz="1300" b="0">
              <a:solidFill>
                <a:srgbClr val="E2E8F0"/>
              </a:solidFill>
              <a:latin typeface="Consolas" panose="020B0609020204030204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6080760" y="3886200"/>
            <a:ext cx="5074920" cy="1417320"/>
          </a:xfrm>
          <a:prstGeom prst="rect">
            <a:avLst/>
          </a:prstGeom>
          <a:noFill/>
        </p:spPr>
        <p:txBody>
          <a:bodyPr wrap="square" lIns="73152" rIns="54864">
            <a:spAutoFit/>
          </a:bodyPr>
          <a:lstStyle/>
          <a:p>
            <a:pPr>
              <a:spcAft>
                <a:spcPts val="500"/>
              </a:spcAft>
              <a:defRPr sz="1600">
                <a:solidFill>
                  <a:srgbClr val="0F172A"/>
                </a:solidFill>
                <a:latin typeface="微软雅黑" panose="020B0503020204020204" charset="-122"/>
              </a:defRPr>
            </a:pPr>
            <a:r>
              <a:t>DDL 结果解释：SHOW TABLES 出现 users、orders；DESCRIBE users 能看到主键、自增、唯一和默认值。</a:t>
            </a:r>
          </a:p>
          <a:p>
            <a:pPr>
              <a:spcAft>
                <a:spcPts val="500"/>
              </a:spcAft>
              <a:defRPr sz="1600">
                <a:solidFill>
                  <a:srgbClr val="0F172A"/>
                </a:solidFill>
                <a:latin typeface="微软雅黑" panose="020B0503020204020204" charset="-122"/>
              </a:defRPr>
            </a:pPr>
            <a:r>
              <a:t>DML 结果解释：INSERT 返回 affectedRows=1，重新 SELECT 可以读回数据，证明不是界面临时状态。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10896"/>
            <a:ext cx="2743200" cy="22860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r>
              <a:rPr sz="950" b="1">
                <a:solidFill>
                  <a:srgbClr val="059669"/>
                </a:solidFill>
                <a:latin typeface="微软雅黑" panose="020B0503020204020204" charset="-122"/>
              </a:rPr>
              <a:t>项重善</a:t>
            </a:r>
            <a:endParaRPr sz="950" b="1">
              <a:solidFill>
                <a:srgbClr val="059669"/>
              </a:solidFill>
              <a:latin typeface="微软雅黑" panose="020B050302020402020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9052560" cy="50292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r>
              <a:rPr sz="2500" b="1">
                <a:solidFill>
                  <a:srgbClr val="0F172A"/>
                </a:solidFill>
                <a:latin typeface="微软雅黑" panose="020B0503020204020204" charset="-122"/>
              </a:rPr>
              <a:t>B 树 索引：元信息创建与已有记录回填</a:t>
            </a:r>
            <a:endParaRPr sz="2500" b="1">
              <a:solidFill>
                <a:srgbClr val="0F172A"/>
              </a:solidFill>
              <a:latin typeface="微软雅黑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1109960" y="320040"/>
            <a:ext cx="502920" cy="27432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 algn="r"/>
            <a:r>
              <a:rPr sz="1000" b="1">
                <a:solidFill>
                  <a:srgbClr val="475569"/>
                </a:solidFill>
                <a:latin typeface="微软雅黑" panose="020B0503020204020204" charset="-122"/>
              </a:rPr>
              <a:t>08</a:t>
            </a:r>
            <a:endParaRPr sz="1000" b="1">
              <a:solidFill>
                <a:srgbClr val="475569"/>
              </a:solidFill>
              <a:latin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3840480" cy="201168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r>
              <a:rPr sz="850" b="0">
                <a:solidFill>
                  <a:srgbClr val="475569"/>
                </a:solidFill>
                <a:latin typeface="微软雅黑" panose="020B0503020204020204" charset="-122"/>
              </a:rPr>
              <a:t>DBMS-5 · 成员分工 · 实现与演示</a:t>
            </a:r>
            <a:endParaRPr sz="850" b="0">
              <a:solidFill>
                <a:srgbClr val="475569"/>
              </a:solidFill>
              <a:latin typeface="微软雅黑" panose="020B0503020204020204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02920" y="1097280"/>
            <a:ext cx="2011680" cy="32004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r>
              <a:rPr sz="1800" b="1">
                <a:solidFill>
                  <a:srgbClr val="059669"/>
                </a:solidFill>
                <a:latin typeface="微软雅黑" panose="020B0503020204020204" charset="-122"/>
              </a:rPr>
              <a:t>项重善</a:t>
            </a:r>
            <a:endParaRPr sz="1800" b="1">
              <a:solidFill>
                <a:srgbClr val="059669"/>
              </a:solidFill>
              <a:latin typeface="微软雅黑" panose="020B0503020204020204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2423160" y="1097280"/>
            <a:ext cx="6400800" cy="32004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r>
              <a:rPr sz="1400" b="0">
                <a:solidFill>
                  <a:srgbClr val="475569"/>
                </a:solidFill>
                <a:latin typeface="微软雅黑" panose="020B0503020204020204" charset="-122"/>
              </a:rPr>
              <a:t>IndexManager / BTreeIndex</a:t>
            </a:r>
            <a:endParaRPr sz="1400" b="0">
              <a:solidFill>
                <a:srgbClr val="475569"/>
              </a:solidFill>
              <a:latin typeface="微软雅黑" panose="020B0503020204020204" charset="-122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502920" y="1481328"/>
            <a:ext cx="10698480" cy="18288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40080" y="1828800"/>
            <a:ext cx="5577840" cy="352044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04_cli_index_tx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2008632"/>
            <a:ext cx="5577840" cy="3160776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6537960" y="1828800"/>
            <a:ext cx="4800600" cy="8686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537960" y="1828800"/>
            <a:ext cx="54864" cy="86868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702552" y="1956816"/>
            <a:ext cx="4526280" cy="22860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r>
              <a:rPr sz="1400" b="1">
                <a:solidFill>
                  <a:srgbClr val="059669"/>
                </a:solidFill>
                <a:latin typeface="微软雅黑" panose="020B0503020204020204" charset="-122"/>
              </a:rPr>
              <a:t>实现入口</a:t>
            </a:r>
            <a:endParaRPr sz="1400" b="1">
              <a:solidFill>
                <a:srgbClr val="059669"/>
              </a:solidFill>
              <a:latin typeface="微软雅黑" panose="020B0503020204020204" charset="-122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6702552" y="2286000"/>
            <a:ext cx="4526280" cy="301751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r>
              <a:rPr sz="1100" b="0">
                <a:solidFill>
                  <a:srgbClr val="0F172A"/>
                </a:solidFill>
                <a:latin typeface="微软雅黑" panose="020B0503020204020204" charset="-122"/>
              </a:rPr>
              <a:t>Executor::execCreateIndex -&gt; IndexManager -&gt; BTreeIndex.insert</a:t>
            </a:r>
            <a:endParaRPr sz="1100" b="0">
              <a:solidFill>
                <a:srgbClr val="0F172A"/>
              </a:solidFill>
              <a:latin typeface="微软雅黑" panose="020B0503020204020204" charset="-122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6629400" y="2880360"/>
            <a:ext cx="4572000" cy="1188720"/>
          </a:xfrm>
          <a:prstGeom prst="rect">
            <a:avLst/>
          </a:prstGeom>
          <a:noFill/>
        </p:spPr>
        <p:txBody>
          <a:bodyPr wrap="square" lIns="73152" rIns="54864">
            <a:spAutoFit/>
          </a:bodyPr>
          <a:lstStyle/>
          <a:p>
            <a:pPr>
              <a:spcAft>
                <a:spcPts val="500"/>
              </a:spcAft>
              <a:defRPr sz="1500">
                <a:solidFill>
                  <a:srgbClr val="0F172A"/>
                </a:solidFill>
                <a:latin typeface="微软雅黑" panose="020B0503020204020204" charset="-122"/>
              </a:defRPr>
            </a:pPr>
            <a:r>
              <a:t>CREATE INDEX idx_users_region ON users(region)：创建索引元信息。</a:t>
            </a:r>
          </a:p>
          <a:p>
            <a:pPr>
              <a:spcAft>
                <a:spcPts val="500"/>
              </a:spcAft>
              <a:defRPr sz="1500">
                <a:solidFill>
                  <a:srgbClr val="0F172A"/>
                </a:solidFill>
                <a:latin typeface="微软雅黑" panose="020B0503020204020204" charset="-122"/>
              </a:defRPr>
            </a:pPr>
            <a:r>
              <a:t>已有 users 记录会被扫描并回填到 BTreeIndex。</a:t>
            </a:r>
          </a:p>
          <a:p>
            <a:pPr>
              <a:spcAft>
                <a:spcPts val="500"/>
              </a:spcAft>
              <a:defRPr sz="1500">
                <a:solidFill>
                  <a:srgbClr val="0F172A"/>
                </a:solidFill>
                <a:latin typeface="微软雅黑" panose="020B0503020204020204" charset="-122"/>
              </a:defRPr>
            </a:pPr>
            <a:r>
              <a:t>后续 INSERT / DELETE / UPDATE 同步维护索引键。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537960" y="4407408"/>
            <a:ext cx="4800600" cy="822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537960" y="4407408"/>
            <a:ext cx="54864" cy="82296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02552" y="4535424"/>
            <a:ext cx="4526280" cy="22860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r>
              <a:rPr sz="1300" b="1">
                <a:solidFill>
                  <a:srgbClr val="D97706"/>
                </a:solidFill>
                <a:latin typeface="微软雅黑" panose="020B0503020204020204" charset="-122"/>
              </a:rPr>
              <a:t>结果解释</a:t>
            </a:r>
            <a:endParaRPr sz="1300" b="1">
              <a:solidFill>
                <a:srgbClr val="D97706"/>
              </a:solidFill>
              <a:latin typeface="微软雅黑" panose="020B0503020204020204" charset="-122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6702552" y="4864608"/>
            <a:ext cx="4526280" cy="256032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r>
              <a:rPr sz="1100" b="0">
                <a:solidFill>
                  <a:srgbClr val="0F172A"/>
                </a:solidFill>
                <a:latin typeface="微软雅黑" panose="020B0503020204020204" charset="-122"/>
              </a:rPr>
              <a:t>命令返回 created and backfilled；Indexes 节点或 SHOW INDEXES 可看到索引存在。</a:t>
            </a:r>
            <a:endParaRPr sz="1100" b="0">
              <a:solidFill>
                <a:srgbClr val="0F172A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10896"/>
            <a:ext cx="2743200" cy="22860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r>
              <a:rPr sz="950" b="1">
                <a:solidFill>
                  <a:srgbClr val="059669"/>
                </a:solidFill>
                <a:latin typeface="微软雅黑" panose="020B0503020204020204" charset="-122"/>
              </a:rPr>
              <a:t>项重善</a:t>
            </a:r>
            <a:endParaRPr sz="950" b="1">
              <a:solidFill>
                <a:srgbClr val="059669"/>
              </a:solidFill>
              <a:latin typeface="微软雅黑" panose="020B050302020402020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9052560" cy="50292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r>
              <a:rPr sz="2500" b="1">
                <a:solidFill>
                  <a:srgbClr val="0F172A"/>
                </a:solidFill>
                <a:latin typeface="微软雅黑" panose="020B0503020204020204" charset="-122"/>
              </a:rPr>
              <a:t>事务与 WAL：回滚可见，提交持久</a:t>
            </a:r>
            <a:endParaRPr sz="2500" b="1">
              <a:solidFill>
                <a:srgbClr val="0F172A"/>
              </a:solidFill>
              <a:latin typeface="微软雅黑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1109960" y="320040"/>
            <a:ext cx="502920" cy="27432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 algn="r"/>
            <a:r>
              <a:rPr sz="1000" b="1">
                <a:solidFill>
                  <a:srgbClr val="475569"/>
                </a:solidFill>
                <a:latin typeface="微软雅黑" panose="020B0503020204020204" charset="-122"/>
              </a:rPr>
              <a:t>09</a:t>
            </a:r>
            <a:endParaRPr sz="1000" b="1">
              <a:solidFill>
                <a:srgbClr val="475569"/>
              </a:solidFill>
              <a:latin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3840480" cy="201168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r>
              <a:rPr sz="850" b="0">
                <a:solidFill>
                  <a:srgbClr val="475569"/>
                </a:solidFill>
                <a:latin typeface="微软雅黑" panose="020B0503020204020204" charset="-122"/>
              </a:rPr>
              <a:t>DBMS-5 · 成员分工 · 实现与演示</a:t>
            </a:r>
            <a:endParaRPr sz="850" b="0">
              <a:solidFill>
                <a:srgbClr val="475569"/>
              </a:solidFill>
              <a:latin typeface="微软雅黑" panose="020B0503020204020204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02920" y="1097280"/>
            <a:ext cx="2011680" cy="32004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r>
              <a:rPr sz="1800" b="1">
                <a:solidFill>
                  <a:srgbClr val="059669"/>
                </a:solidFill>
                <a:latin typeface="微软雅黑" panose="020B0503020204020204" charset="-122"/>
              </a:rPr>
              <a:t>项重善</a:t>
            </a:r>
            <a:endParaRPr sz="1800" b="1">
              <a:solidFill>
                <a:srgbClr val="059669"/>
              </a:solidFill>
              <a:latin typeface="微软雅黑" panose="020B0503020204020204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2423160" y="1097280"/>
            <a:ext cx="6400800" cy="32004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r>
              <a:rPr sz="1400" b="0">
                <a:solidFill>
                  <a:srgbClr val="475569"/>
                </a:solidFill>
                <a:latin typeface="微软雅黑" panose="020B0503020204020204" charset="-122"/>
              </a:rPr>
              <a:t>TransactionManager / WalManager</a:t>
            </a:r>
            <a:endParaRPr sz="1400" b="0">
              <a:solidFill>
                <a:srgbClr val="475569"/>
              </a:solidFill>
              <a:latin typeface="微软雅黑" panose="020B0503020204020204" charset="-122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502920" y="1481328"/>
            <a:ext cx="10698480" cy="18288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77240" y="1874519"/>
            <a:ext cx="5303520" cy="2103120"/>
          </a:xfrm>
          <a:prstGeom prst="roundRect">
            <a:avLst>
              <a:gd name="adj" fmla="val 4000"/>
            </a:avLst>
          </a:prstGeom>
          <a:solidFill>
            <a:srgbClr val="0F172A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41832" y="2002536"/>
            <a:ext cx="5029200" cy="1883663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r>
              <a:rPr sz="1300" b="0">
                <a:solidFill>
                  <a:srgbClr val="E2E8F0"/>
                </a:solidFill>
                <a:latin typeface="Consolas" panose="020B0609020204030204"/>
              </a:rPr>
              <a:t>BEGIN;</a:t>
            </a:r>
            <a:br>
              <a:rPr sz="1300" b="0">
                <a:solidFill>
                  <a:srgbClr val="E2E8F0"/>
                </a:solidFill>
                <a:latin typeface="Consolas" panose="020B0609020204030204"/>
              </a:rPr>
            </a:br>
            <a:r>
              <a:rPr sz="1300" b="0">
                <a:solidFill>
                  <a:srgbClr val="E2E8F0"/>
                </a:solidFill>
                <a:latin typeface="Consolas" panose="020B0609020204030204"/>
              </a:rPr>
              <a:t>UPDATE users SET age = 99 WHERE name = 'Bob';</a:t>
            </a:r>
            <a:br>
              <a:rPr sz="1300" b="0">
                <a:solidFill>
                  <a:srgbClr val="E2E8F0"/>
                </a:solidFill>
                <a:latin typeface="Consolas" panose="020B0609020204030204"/>
              </a:rPr>
            </a:br>
            <a:r>
              <a:rPr sz="1300" b="0">
                <a:solidFill>
                  <a:srgbClr val="E2E8F0"/>
                </a:solidFill>
                <a:latin typeface="Consolas" panose="020B0609020204030204"/>
              </a:rPr>
              <a:t>ROLLBACK;</a:t>
            </a:r>
            <a:br>
              <a:rPr sz="1300" b="0">
                <a:solidFill>
                  <a:srgbClr val="E2E8F0"/>
                </a:solidFill>
                <a:latin typeface="Consolas" panose="020B0609020204030204"/>
              </a:rPr>
            </a:br>
            <a:r>
              <a:rPr sz="1300" b="0">
                <a:solidFill>
                  <a:srgbClr val="E2E8F0"/>
                </a:solidFill>
                <a:latin typeface="Consolas" panose="020B0609020204030204"/>
              </a:rPr>
              <a:t>SELECT name, age FROM users;</a:t>
            </a:r>
            <a:br>
              <a:rPr sz="1300" b="0">
                <a:solidFill>
                  <a:srgbClr val="E2E8F0"/>
                </a:solidFill>
                <a:latin typeface="Consolas" panose="020B0609020204030204"/>
              </a:rPr>
            </a:br>
            <a:br>
              <a:rPr sz="1300" b="0">
                <a:solidFill>
                  <a:srgbClr val="E2E8F0"/>
                </a:solidFill>
                <a:latin typeface="Consolas" panose="020B0609020204030204"/>
              </a:rPr>
            </a:br>
            <a:r>
              <a:rPr sz="1300" b="0">
                <a:solidFill>
                  <a:srgbClr val="E2E8F0"/>
                </a:solidFill>
                <a:latin typeface="Consolas" panose="020B0609020204030204"/>
              </a:rPr>
              <a:t>结果：Bob age = 25</a:t>
            </a:r>
            <a:endParaRPr sz="1300" b="0">
              <a:solidFill>
                <a:srgbClr val="E2E8F0"/>
              </a:solidFill>
              <a:latin typeface="Consolas" panose="020B0609020204030204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777240" y="4343400"/>
            <a:ext cx="5303520" cy="1600200"/>
          </a:xfrm>
          <a:prstGeom prst="roundRect">
            <a:avLst>
              <a:gd name="adj" fmla="val 4000"/>
            </a:avLst>
          </a:prstGeom>
          <a:solidFill>
            <a:srgbClr val="0F172A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41832" y="4471416"/>
            <a:ext cx="5029200" cy="1380744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r>
              <a:rPr sz="1300" b="0">
                <a:solidFill>
                  <a:srgbClr val="E2E8F0"/>
                </a:solidFill>
                <a:latin typeface="Consolas" panose="020B0609020204030204"/>
              </a:rPr>
              <a:t>BEGIN;</a:t>
            </a:r>
            <a:br>
              <a:rPr sz="1300" b="0">
                <a:solidFill>
                  <a:srgbClr val="E2E8F0"/>
                </a:solidFill>
                <a:latin typeface="Consolas" panose="020B0609020204030204"/>
              </a:rPr>
            </a:br>
            <a:r>
              <a:rPr sz="1300" b="0">
                <a:solidFill>
                  <a:srgbClr val="E2E8F0"/>
                </a:solidFill>
                <a:latin typeface="Consolas" panose="020B0609020204030204"/>
              </a:rPr>
              <a:t>UPDATE orders SET status = 'archived' WHERE amount &gt; 300;</a:t>
            </a:r>
            <a:br>
              <a:rPr sz="1300" b="0">
                <a:solidFill>
                  <a:srgbClr val="E2E8F0"/>
                </a:solidFill>
                <a:latin typeface="Consolas" panose="020B0609020204030204"/>
              </a:rPr>
            </a:br>
            <a:r>
              <a:rPr sz="1300" b="0">
                <a:solidFill>
                  <a:srgbClr val="E2E8F0"/>
                </a:solidFill>
                <a:latin typeface="Consolas" panose="020B0609020204030204"/>
              </a:rPr>
              <a:t>COMMIT;</a:t>
            </a:r>
            <a:br>
              <a:rPr sz="1300" b="0">
                <a:solidFill>
                  <a:srgbClr val="E2E8F0"/>
                </a:solidFill>
                <a:latin typeface="Consolas" panose="020B0609020204030204"/>
              </a:rPr>
            </a:br>
            <a:r>
              <a:rPr sz="1300" b="0">
                <a:solidFill>
                  <a:srgbClr val="E2E8F0"/>
                </a:solidFill>
                <a:latin typeface="Consolas" panose="020B0609020204030204"/>
              </a:rPr>
              <a:t>SELECT oid, amount, status FROM orders;</a:t>
            </a:r>
            <a:br>
              <a:rPr sz="1300" b="0">
                <a:solidFill>
                  <a:srgbClr val="E2E8F0"/>
                </a:solidFill>
                <a:latin typeface="Consolas" panose="020B0609020204030204"/>
              </a:rPr>
            </a:br>
            <a:br>
              <a:rPr sz="1300" b="0">
                <a:solidFill>
                  <a:srgbClr val="E2E8F0"/>
                </a:solidFill>
                <a:latin typeface="Consolas" panose="020B0609020204030204"/>
              </a:rPr>
            </a:br>
            <a:r>
              <a:rPr sz="1300" b="0">
                <a:solidFill>
                  <a:srgbClr val="E2E8F0"/>
                </a:solidFill>
                <a:latin typeface="Consolas" panose="020B0609020204030204"/>
              </a:rPr>
              <a:t>结果：高金额订单保持 archived</a:t>
            </a:r>
            <a:endParaRPr sz="1300" b="0">
              <a:solidFill>
                <a:srgbClr val="E2E8F0"/>
              </a:solidFill>
              <a:latin typeface="Consolas" panose="020B0609020204030204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6583680" y="2057400"/>
            <a:ext cx="4572000" cy="1828800"/>
          </a:xfrm>
          <a:prstGeom prst="rect">
            <a:avLst/>
          </a:prstGeom>
          <a:noFill/>
        </p:spPr>
        <p:txBody>
          <a:bodyPr wrap="square" lIns="73152" rIns="54864">
            <a:spAutoFit/>
          </a:bodyPr>
          <a:lstStyle/>
          <a:p>
            <a:pPr>
              <a:spcAft>
                <a:spcPts val="500"/>
              </a:spcAft>
              <a:defRPr sz="1700">
                <a:solidFill>
                  <a:srgbClr val="0F172A"/>
                </a:solidFill>
                <a:latin typeface="微软雅黑" panose="020B0503020204020204" charset="-122"/>
              </a:defRPr>
            </a:pPr>
            <a:r>
              <a:t>Undo Log 保存修改前旧值，ROLLBACK 时按旧值恢复。</a:t>
            </a:r>
          </a:p>
          <a:p>
            <a:pPr>
              <a:spcAft>
                <a:spcPts val="500"/>
              </a:spcAft>
              <a:defRPr sz="1700">
                <a:solidFill>
                  <a:srgbClr val="0F172A"/>
                </a:solidFill>
                <a:latin typeface="微软雅黑" panose="020B0503020204020204" charset="-122"/>
              </a:defRPr>
            </a:pPr>
            <a:r>
              <a:t>WAL 记录事务状态，异常退出后可区分已提交和未完成事务。</a:t>
            </a:r>
          </a:p>
          <a:p>
            <a:pPr>
              <a:spcAft>
                <a:spcPts val="500"/>
              </a:spcAft>
              <a:defRPr sz="1700">
                <a:solidFill>
                  <a:srgbClr val="0F172A"/>
                </a:solidFill>
                <a:latin typeface="微软雅黑" panose="020B0503020204020204" charset="-122"/>
              </a:defRPr>
            </a:pPr>
            <a:r>
              <a:t>演示时重点看 SELECT 结果：回滚后 Bob 年龄恢复，提交后订单状态保留。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10896"/>
            <a:ext cx="2743200" cy="22860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r>
              <a:rPr sz="950" b="1">
                <a:solidFill>
                  <a:srgbClr val="D97706"/>
                </a:solidFill>
                <a:latin typeface="微软雅黑" panose="020B0503020204020204" charset="-122"/>
              </a:rPr>
              <a:t>王凯</a:t>
            </a:r>
            <a:endParaRPr sz="950" b="1">
              <a:solidFill>
                <a:srgbClr val="D97706"/>
              </a:solidFill>
              <a:latin typeface="微软雅黑" panose="020B050302020402020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9052560" cy="50292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r>
              <a:rPr sz="2500" b="1">
                <a:solidFill>
                  <a:srgbClr val="0F172A"/>
                </a:solidFill>
                <a:latin typeface="微软雅黑" panose="020B0503020204020204" charset="-122"/>
              </a:rPr>
              <a:t>SQL 解析与执行：从字符串到 AST</a:t>
            </a:r>
            <a:endParaRPr sz="2500" b="1">
              <a:solidFill>
                <a:srgbClr val="0F172A"/>
              </a:solidFill>
              <a:latin typeface="微软雅黑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1109960" y="320040"/>
            <a:ext cx="502920" cy="27432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 algn="r"/>
            <a:r>
              <a:rPr sz="1000" b="1">
                <a:solidFill>
                  <a:srgbClr val="475569"/>
                </a:solidFill>
                <a:latin typeface="微软雅黑" panose="020B0503020204020204" charset="-122"/>
              </a:rPr>
              <a:t>10</a:t>
            </a:r>
            <a:endParaRPr sz="1000" b="1">
              <a:solidFill>
                <a:srgbClr val="475569"/>
              </a:solidFill>
              <a:latin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3840480" cy="201168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r>
              <a:rPr sz="850" b="0">
                <a:solidFill>
                  <a:srgbClr val="475569"/>
                </a:solidFill>
                <a:latin typeface="微软雅黑" panose="020B0503020204020204" charset="-122"/>
              </a:rPr>
              <a:t>DBMS-5 · 成员分工 · 实现与演示</a:t>
            </a:r>
            <a:endParaRPr sz="850" b="0">
              <a:solidFill>
                <a:srgbClr val="475569"/>
              </a:solidFill>
              <a:latin typeface="微软雅黑" panose="020B0503020204020204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02920" y="1097280"/>
            <a:ext cx="2011680" cy="32004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r>
              <a:rPr sz="1800" b="1">
                <a:solidFill>
                  <a:srgbClr val="D97706"/>
                </a:solidFill>
                <a:latin typeface="微软雅黑" panose="020B0503020204020204" charset="-122"/>
              </a:rPr>
              <a:t>王凯</a:t>
            </a:r>
            <a:endParaRPr sz="1800" b="1">
              <a:solidFill>
                <a:srgbClr val="D97706"/>
              </a:solidFill>
              <a:latin typeface="微软雅黑" panose="020B0503020204020204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2423160" y="1097280"/>
            <a:ext cx="6400800" cy="32004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r>
              <a:rPr sz="1400" b="0">
                <a:solidFill>
                  <a:srgbClr val="475569"/>
                </a:solidFill>
                <a:latin typeface="微软雅黑" panose="020B0503020204020204" charset="-122"/>
              </a:rPr>
              <a:t>Lexer / Parser / AST</a:t>
            </a:r>
            <a:endParaRPr sz="1400" b="0">
              <a:solidFill>
                <a:srgbClr val="475569"/>
              </a:solidFill>
              <a:latin typeface="微软雅黑" panose="020B0503020204020204" charset="-122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502920" y="1481328"/>
            <a:ext cx="10698480" cy="1828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31520" y="1828800"/>
            <a:ext cx="5120640" cy="1828800"/>
          </a:xfrm>
          <a:prstGeom prst="roundRect">
            <a:avLst>
              <a:gd name="adj" fmla="val 4000"/>
            </a:avLst>
          </a:prstGeom>
          <a:solidFill>
            <a:srgbClr val="0F172A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96112" y="1956816"/>
            <a:ext cx="4846320" cy="1609344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r>
              <a:rPr sz="1300" b="0">
                <a:solidFill>
                  <a:srgbClr val="E2E8F0"/>
                </a:solidFill>
                <a:latin typeface="Consolas" panose="020B0609020204030204"/>
              </a:rPr>
              <a:t>SELECT u.name, o.amount</a:t>
            </a:r>
            <a:br>
              <a:rPr sz="1300" b="0">
                <a:solidFill>
                  <a:srgbClr val="E2E8F0"/>
                </a:solidFill>
                <a:latin typeface="Consolas" panose="020B0609020204030204"/>
              </a:rPr>
            </a:br>
            <a:r>
              <a:rPr sz="1300" b="0">
                <a:solidFill>
                  <a:srgbClr val="E2E8F0"/>
                </a:solidFill>
                <a:latin typeface="Consolas" panose="020B0609020204030204"/>
              </a:rPr>
              <a:t>FROM users u INNER JOIN orders o</a:t>
            </a:r>
            <a:br>
              <a:rPr sz="1300" b="0">
                <a:solidFill>
                  <a:srgbClr val="E2E8F0"/>
                </a:solidFill>
                <a:latin typeface="Consolas" panose="020B0609020204030204"/>
              </a:rPr>
            </a:br>
            <a:r>
              <a:rPr sz="1300" b="0">
                <a:solidFill>
                  <a:srgbClr val="E2E8F0"/>
                </a:solidFill>
                <a:latin typeface="Consolas" panose="020B0609020204030204"/>
              </a:rPr>
              <a:t>ON u.uid = o.user_id</a:t>
            </a:r>
            <a:br>
              <a:rPr sz="1300" b="0">
                <a:solidFill>
                  <a:srgbClr val="E2E8F0"/>
                </a:solidFill>
                <a:latin typeface="Consolas" panose="020B0609020204030204"/>
              </a:rPr>
            </a:br>
            <a:r>
              <a:rPr sz="1300" b="0">
                <a:solidFill>
                  <a:srgbClr val="E2E8F0"/>
                </a:solidFill>
                <a:latin typeface="Consolas" panose="020B0609020204030204"/>
              </a:rPr>
              <a:t>WHERE o.amount &gt; 100</a:t>
            </a:r>
            <a:br>
              <a:rPr sz="1300" b="0">
                <a:solidFill>
                  <a:srgbClr val="E2E8F0"/>
                </a:solidFill>
                <a:latin typeface="Consolas" panose="020B0609020204030204"/>
              </a:rPr>
            </a:br>
            <a:r>
              <a:rPr sz="1300" b="0">
                <a:solidFill>
                  <a:srgbClr val="E2E8F0"/>
                </a:solidFill>
                <a:latin typeface="Consolas" panose="020B0609020204030204"/>
              </a:rPr>
              <a:t>ORDER BY o.amount DESC;</a:t>
            </a:r>
            <a:endParaRPr sz="1300" b="0">
              <a:solidFill>
                <a:srgbClr val="E2E8F0"/>
              </a:solidFill>
              <a:latin typeface="Consolas" panose="020B0609020204030204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6263640" y="1828800"/>
            <a:ext cx="1645920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63640" y="1828800"/>
            <a:ext cx="54864" cy="91440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28231" y="1956816"/>
            <a:ext cx="1371600" cy="22860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r>
              <a:rPr sz="1300" b="1">
                <a:solidFill>
                  <a:srgbClr val="D97706"/>
                </a:solidFill>
                <a:latin typeface="微软雅黑" panose="020B0503020204020204" charset="-122"/>
              </a:rPr>
              <a:t>Lexer</a:t>
            </a:r>
            <a:endParaRPr sz="1300" b="1">
              <a:solidFill>
                <a:srgbClr val="D97706"/>
              </a:solidFill>
              <a:latin typeface="微软雅黑" panose="020B0503020204020204" charset="-122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6428231" y="2286000"/>
            <a:ext cx="1371600" cy="347472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r>
              <a:rPr sz="1000" b="0">
                <a:solidFill>
                  <a:srgbClr val="0F172A"/>
                </a:solidFill>
                <a:latin typeface="微软雅黑" panose="020B0503020204020204" charset="-122"/>
              </a:rPr>
              <a:t>关键字、标识符、数字、字符串、符号 Token</a:t>
            </a:r>
            <a:endParaRPr sz="1000" b="0">
              <a:solidFill>
                <a:srgbClr val="0F172A"/>
              </a:solidFill>
              <a:latin typeface="微软雅黑" panose="020B0503020204020204" charset="-122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8183879" y="1828800"/>
            <a:ext cx="1645920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183879" y="1828800"/>
            <a:ext cx="54864" cy="9144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48471" y="1956816"/>
            <a:ext cx="1371600" cy="22860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r>
              <a:rPr sz="1300" b="1">
                <a:solidFill>
                  <a:srgbClr val="2563EB"/>
                </a:solidFill>
                <a:latin typeface="微软雅黑" panose="020B0503020204020204" charset="-122"/>
              </a:rPr>
              <a:t>Parser</a:t>
            </a:r>
            <a:endParaRPr sz="1300" b="1">
              <a:solidFill>
                <a:srgbClr val="2563EB"/>
              </a:solidFill>
              <a:latin typeface="微软雅黑" panose="020B0503020204020204" charset="-122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8348471" y="2286000"/>
            <a:ext cx="1371600" cy="347472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r>
              <a:rPr sz="1000" b="0">
                <a:solidFill>
                  <a:srgbClr val="0F172A"/>
                </a:solidFill>
                <a:latin typeface="微软雅黑" panose="020B0503020204020204" charset="-122"/>
              </a:rPr>
              <a:t>SelectNode、TableRef、ON 条件、排序和分组字段</a:t>
            </a:r>
            <a:endParaRPr sz="1000" b="0">
              <a:solidFill>
                <a:srgbClr val="0F172A"/>
              </a:solidFill>
              <a:latin typeface="微软雅黑" panose="020B0503020204020204" charset="-122"/>
            </a:endParaRPr>
          </a:p>
        </p:txBody>
      </p:sp>
      <p:sp>
        <p:nvSpPr>
          <p:cNvPr id="20" name="Rounded Rectangle 19"/>
          <p:cNvSpPr/>
          <p:nvPr/>
        </p:nvSpPr>
        <p:spPr>
          <a:xfrm>
            <a:off x="10104120" y="1828800"/>
            <a:ext cx="1234440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10104120" y="1828800"/>
            <a:ext cx="54864" cy="91440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268712" y="1956816"/>
            <a:ext cx="960120" cy="22860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r>
              <a:rPr sz="1300" b="1">
                <a:solidFill>
                  <a:srgbClr val="059669"/>
                </a:solidFill>
                <a:latin typeface="微软雅黑" panose="020B0503020204020204" charset="-122"/>
              </a:rPr>
              <a:t>AST</a:t>
            </a:r>
            <a:endParaRPr sz="1300" b="1">
              <a:solidFill>
                <a:srgbClr val="059669"/>
              </a:solidFill>
              <a:latin typeface="微软雅黑" panose="020B0503020204020204" charset="-122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10268712" y="2286000"/>
            <a:ext cx="960120" cy="347472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r>
              <a:rPr sz="1000" b="0">
                <a:solidFill>
                  <a:srgbClr val="0F172A"/>
                </a:solidFill>
                <a:latin typeface="微软雅黑" panose="020B0503020204020204" charset="-122"/>
              </a:rPr>
              <a:t>执行器可读的语法树</a:t>
            </a:r>
            <a:endParaRPr sz="1000" b="0">
              <a:solidFill>
                <a:srgbClr val="0F172A"/>
              </a:solidFill>
              <a:latin typeface="微软雅黑" panose="020B0503020204020204" charset="-122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868680" y="4251960"/>
            <a:ext cx="10332720" cy="1005840"/>
          </a:xfrm>
          <a:prstGeom prst="rect">
            <a:avLst/>
          </a:prstGeom>
          <a:noFill/>
        </p:spPr>
        <p:txBody>
          <a:bodyPr wrap="square" lIns="73152" rIns="54864">
            <a:spAutoFit/>
          </a:bodyPr>
          <a:lstStyle/>
          <a:p>
            <a:pPr>
              <a:spcAft>
                <a:spcPts val="500"/>
              </a:spcAft>
              <a:defRPr sz="1700">
                <a:solidFill>
                  <a:srgbClr val="0F172A"/>
                </a:solidFill>
                <a:latin typeface="微软雅黑" panose="020B0503020204020204" charset="-122"/>
              </a:defRPr>
            </a:pPr>
            <a:r>
              <a:t>Parser 不直接读写数据，只负责把 SQL 结构化。</a:t>
            </a:r>
          </a:p>
          <a:p>
            <a:pPr>
              <a:spcAft>
                <a:spcPts val="500"/>
              </a:spcAft>
              <a:defRPr sz="1700">
                <a:solidFill>
                  <a:srgbClr val="0F172A"/>
                </a:solidFill>
                <a:latin typeface="微软雅黑" panose="020B0503020204020204" charset="-122"/>
              </a:defRPr>
            </a:pPr>
            <a:r>
              <a:t>JOIN、GROUP BY、HAVING、ORDER BY 都在 AST 中保留独立字段，便于 Executor 分阶段处理。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10896"/>
            <a:ext cx="2743200" cy="22860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r>
              <a:rPr sz="950" b="1">
                <a:solidFill>
                  <a:srgbClr val="D97706"/>
                </a:solidFill>
                <a:latin typeface="微软雅黑" panose="020B0503020204020204" charset="-122"/>
              </a:rPr>
              <a:t>王凯</a:t>
            </a:r>
            <a:endParaRPr sz="950" b="1">
              <a:solidFill>
                <a:srgbClr val="D97706"/>
              </a:solidFill>
              <a:latin typeface="微软雅黑" panose="020B050302020402020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9052560" cy="50292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r>
              <a:rPr sz="2500" b="1">
                <a:solidFill>
                  <a:srgbClr val="0F172A"/>
                </a:solidFill>
                <a:latin typeface="微软雅黑" panose="020B0503020204020204" charset="-122"/>
              </a:rPr>
              <a:t>Executor：DDL / DML / 约束检查统一分发</a:t>
            </a:r>
            <a:endParaRPr sz="2500" b="1">
              <a:solidFill>
                <a:srgbClr val="0F172A"/>
              </a:solidFill>
              <a:latin typeface="微软雅黑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1109960" y="320040"/>
            <a:ext cx="502920" cy="27432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 algn="r"/>
            <a:r>
              <a:rPr sz="1000" b="1">
                <a:solidFill>
                  <a:srgbClr val="475569"/>
                </a:solidFill>
                <a:latin typeface="微软雅黑" panose="020B0503020204020204" charset="-122"/>
              </a:rPr>
              <a:t>11</a:t>
            </a:r>
            <a:endParaRPr sz="1000" b="1">
              <a:solidFill>
                <a:srgbClr val="475569"/>
              </a:solidFill>
              <a:latin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3840480" cy="201168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r>
              <a:rPr sz="850" b="0">
                <a:solidFill>
                  <a:srgbClr val="475569"/>
                </a:solidFill>
                <a:latin typeface="微软雅黑" panose="020B0503020204020204" charset="-122"/>
              </a:rPr>
              <a:t>DBMS-5 · 成员分工 · 实现与演示</a:t>
            </a:r>
            <a:endParaRPr sz="850" b="0">
              <a:solidFill>
                <a:srgbClr val="475569"/>
              </a:solidFill>
              <a:latin typeface="微软雅黑" panose="020B0503020204020204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02920" y="1097280"/>
            <a:ext cx="2011680" cy="32004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r>
              <a:rPr sz="1800" b="1">
                <a:solidFill>
                  <a:srgbClr val="D97706"/>
                </a:solidFill>
                <a:latin typeface="微软雅黑" panose="020B0503020204020204" charset="-122"/>
              </a:rPr>
              <a:t>王凯</a:t>
            </a:r>
            <a:endParaRPr sz="1800" b="1">
              <a:solidFill>
                <a:srgbClr val="D97706"/>
              </a:solidFill>
              <a:latin typeface="微软雅黑" panose="020B0503020204020204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2423160" y="1097280"/>
            <a:ext cx="6400800" cy="32004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r>
              <a:rPr sz="1400" b="0">
                <a:solidFill>
                  <a:srgbClr val="475569"/>
                </a:solidFill>
                <a:latin typeface="微软雅黑" panose="020B0503020204020204" charset="-122"/>
              </a:rPr>
              <a:t>Executor / ExprEvaluator / Constraints</a:t>
            </a:r>
            <a:endParaRPr sz="1400" b="0">
              <a:solidFill>
                <a:srgbClr val="475569"/>
              </a:solidFill>
              <a:latin typeface="微软雅黑" panose="020B0503020204020204" charset="-122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502920" y="1481328"/>
            <a:ext cx="10698480" cy="1828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31520" y="1874519"/>
            <a:ext cx="3017520" cy="1143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31520" y="1874519"/>
            <a:ext cx="54864" cy="1143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96112" y="2002536"/>
            <a:ext cx="2743200" cy="22860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r>
              <a:rPr sz="1300" b="1">
                <a:solidFill>
                  <a:srgbClr val="2563EB"/>
                </a:solidFill>
                <a:latin typeface="微软雅黑" panose="020B0503020204020204" charset="-122"/>
              </a:rPr>
              <a:t>DDL</a:t>
            </a:r>
            <a:endParaRPr sz="1300" b="1">
              <a:solidFill>
                <a:srgbClr val="2563EB"/>
              </a:solidFill>
              <a:latin typeface="微软雅黑" panose="020B0503020204020204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896112" y="2331720"/>
            <a:ext cx="2743200" cy="576072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r>
              <a:rPr sz="1150" b="0">
                <a:solidFill>
                  <a:srgbClr val="0F172A"/>
                </a:solidFill>
                <a:latin typeface="微软雅黑" panose="020B0503020204020204" charset="-122"/>
              </a:rPr>
              <a:t>execCreateDatabase / execCreateTable / execAlterTable：修改目录、表结构和元信息。</a:t>
            </a:r>
            <a:endParaRPr sz="1150" b="0">
              <a:solidFill>
                <a:srgbClr val="0F172A"/>
              </a:solidFill>
              <a:latin typeface="微软雅黑" panose="020B0503020204020204" charset="-122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4160520" y="1874519"/>
            <a:ext cx="3017520" cy="1143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160520" y="1874519"/>
            <a:ext cx="54864" cy="114300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325112" y="2002536"/>
            <a:ext cx="2743200" cy="22860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r>
              <a:rPr sz="1300" b="1">
                <a:solidFill>
                  <a:srgbClr val="059669"/>
                </a:solidFill>
                <a:latin typeface="微软雅黑" panose="020B0503020204020204" charset="-122"/>
              </a:rPr>
              <a:t>DML</a:t>
            </a:r>
            <a:endParaRPr sz="1300" b="1">
              <a:solidFill>
                <a:srgbClr val="059669"/>
              </a:solidFill>
              <a:latin typeface="微软雅黑" panose="020B0503020204020204" charset="-122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4325112" y="2331720"/>
            <a:ext cx="2743200" cy="576072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r>
              <a:rPr sz="1150" b="0">
                <a:solidFill>
                  <a:srgbClr val="0F172A"/>
                </a:solidFill>
                <a:latin typeface="微软雅黑" panose="020B0503020204020204" charset="-122"/>
              </a:rPr>
              <a:t>execInsert / execUpdate / execDelete：权限、约束、记录读写、affectedRows。</a:t>
            </a:r>
            <a:endParaRPr sz="1150" b="0">
              <a:solidFill>
                <a:srgbClr val="0F172A"/>
              </a:solidFill>
              <a:latin typeface="微软雅黑" panose="020B0503020204020204" charset="-122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7589520" y="1874519"/>
            <a:ext cx="3017520" cy="1143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589520" y="1874519"/>
            <a:ext cx="54864" cy="114300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54112" y="2002536"/>
            <a:ext cx="2743200" cy="22860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r>
              <a:rPr sz="1300" b="1">
                <a:solidFill>
                  <a:srgbClr val="D97706"/>
                </a:solidFill>
                <a:latin typeface="微软雅黑" panose="020B0503020204020204" charset="-122"/>
              </a:rPr>
              <a:t>SELECT</a:t>
            </a:r>
            <a:endParaRPr sz="1300" b="1">
              <a:solidFill>
                <a:srgbClr val="D97706"/>
              </a:solidFill>
              <a:latin typeface="微软雅黑" panose="020B0503020204020204" charset="-122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7754112" y="2331720"/>
            <a:ext cx="2743200" cy="576072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r>
              <a:rPr sz="1150" b="0">
                <a:solidFill>
                  <a:srgbClr val="0F172A"/>
                </a:solidFill>
                <a:latin typeface="微软雅黑" panose="020B0503020204020204" charset="-122"/>
              </a:rPr>
              <a:t>execSelect：扫描、WHERE、投影、排序、LIMIT、聚合、JOIN。</a:t>
            </a:r>
            <a:endParaRPr sz="1150" b="0">
              <a:solidFill>
                <a:srgbClr val="0F172A"/>
              </a:solidFill>
              <a:latin typeface="微软雅黑" panose="020B0503020204020204" charset="-122"/>
            </a:endParaRPr>
          </a:p>
        </p:txBody>
      </p:sp>
      <p:sp>
        <p:nvSpPr>
          <p:cNvPr id="22" name="Rounded Rectangle 21"/>
          <p:cNvSpPr/>
          <p:nvPr/>
        </p:nvSpPr>
        <p:spPr>
          <a:xfrm>
            <a:off x="822960" y="3886200"/>
            <a:ext cx="5212080" cy="1508760"/>
          </a:xfrm>
          <a:prstGeom prst="roundRect">
            <a:avLst>
              <a:gd name="adj" fmla="val 4000"/>
            </a:avLst>
          </a:prstGeom>
          <a:solidFill>
            <a:srgbClr val="0F172A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87552" y="4014215"/>
            <a:ext cx="4937760" cy="1289304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r>
              <a:rPr sz="1300" b="0">
                <a:solidFill>
                  <a:srgbClr val="E2E8F0"/>
                </a:solidFill>
                <a:latin typeface="Consolas" panose="020B0609020204030204"/>
              </a:rPr>
              <a:t>INSERT INTO users (...) VALUES (...);</a:t>
            </a:r>
            <a:br>
              <a:rPr sz="1300" b="0">
                <a:solidFill>
                  <a:srgbClr val="E2E8F0"/>
                </a:solidFill>
                <a:latin typeface="Consolas" panose="020B0609020204030204"/>
              </a:rPr>
            </a:br>
            <a:r>
              <a:rPr sz="1300" b="0">
                <a:solidFill>
                  <a:srgbClr val="E2E8F0"/>
                </a:solidFill>
                <a:latin typeface="Consolas" panose="020B0609020204030204"/>
              </a:rPr>
              <a:t>-&gt; 检查 NOT NULL / UNIQUE / FOREIGN KEY</a:t>
            </a:r>
            <a:br>
              <a:rPr sz="1300" b="0">
                <a:solidFill>
                  <a:srgbClr val="E2E8F0"/>
                </a:solidFill>
                <a:latin typeface="Consolas" panose="020B0609020204030204"/>
              </a:rPr>
            </a:br>
            <a:r>
              <a:rPr sz="1300" b="0">
                <a:solidFill>
                  <a:srgbClr val="E2E8F0"/>
                </a:solidFill>
                <a:latin typeface="Consolas" panose="020B0609020204030204"/>
              </a:rPr>
              <a:t>-&gt; RecordManager 写入</a:t>
            </a:r>
            <a:br>
              <a:rPr sz="1300" b="0">
                <a:solidFill>
                  <a:srgbClr val="E2E8F0"/>
                </a:solidFill>
                <a:latin typeface="Consolas" panose="020B0609020204030204"/>
              </a:rPr>
            </a:br>
            <a:r>
              <a:rPr sz="1300" b="0">
                <a:solidFill>
                  <a:srgbClr val="E2E8F0"/>
                </a:solidFill>
                <a:latin typeface="Consolas" panose="020B0609020204030204"/>
              </a:rPr>
              <a:t>-&gt; QueryResult::dml(affectedRows=1)</a:t>
            </a:r>
            <a:endParaRPr sz="1300" b="0">
              <a:solidFill>
                <a:srgbClr val="E2E8F0"/>
              </a:solidFill>
              <a:latin typeface="Consolas" panose="020B0609020204030204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6400800" y="3977639"/>
            <a:ext cx="4754880" cy="1234440"/>
          </a:xfrm>
          <a:prstGeom prst="rect">
            <a:avLst/>
          </a:prstGeom>
          <a:noFill/>
        </p:spPr>
        <p:txBody>
          <a:bodyPr wrap="square" lIns="73152" rIns="54864">
            <a:spAutoFit/>
          </a:bodyPr>
          <a:lstStyle/>
          <a:p>
            <a:pPr>
              <a:spcAft>
                <a:spcPts val="500"/>
              </a:spcAft>
              <a:defRPr sz="1600">
                <a:solidFill>
                  <a:srgbClr val="0F172A"/>
                </a:solidFill>
                <a:latin typeface="微软雅黑" panose="020B0503020204020204" charset="-122"/>
              </a:defRPr>
            </a:pPr>
            <a:r>
              <a:t>结果解释：插入成功显示 affectedRows=1；重复主键或唯一字段会返回约束错误。</a:t>
            </a:r>
          </a:p>
          <a:p>
            <a:pPr>
              <a:spcAft>
                <a:spcPts val="500"/>
              </a:spcAft>
              <a:defRPr sz="1600">
                <a:solidFill>
                  <a:srgbClr val="0F172A"/>
                </a:solidFill>
                <a:latin typeface="微软雅黑" panose="020B0503020204020204" charset="-122"/>
              </a:defRPr>
            </a:pPr>
            <a:r>
              <a:t>WHERE 求值由 ExprEvaluator 完成，SELECT 只显示满足条件的行。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10896"/>
            <a:ext cx="2743200" cy="22860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r>
              <a:rPr sz="950" b="1">
                <a:solidFill>
                  <a:srgbClr val="D97706"/>
                </a:solidFill>
                <a:latin typeface="微软雅黑" panose="020B0503020204020204" charset="-122"/>
              </a:rPr>
              <a:t>王凯</a:t>
            </a:r>
            <a:endParaRPr sz="950" b="1">
              <a:solidFill>
                <a:srgbClr val="D97706"/>
              </a:solidFill>
              <a:latin typeface="微软雅黑" panose="020B050302020402020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9052560" cy="50292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r>
              <a:rPr sz="2500" b="1">
                <a:solidFill>
                  <a:srgbClr val="0F172A"/>
                </a:solidFill>
                <a:latin typeface="微软雅黑" panose="020B0503020204020204" charset="-122"/>
              </a:rPr>
              <a:t>联表与聚合：结果能解释查询语义</a:t>
            </a:r>
            <a:endParaRPr sz="2500" b="1">
              <a:solidFill>
                <a:srgbClr val="0F172A"/>
              </a:solidFill>
              <a:latin typeface="微软雅黑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1109960" y="320040"/>
            <a:ext cx="502920" cy="27432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 algn="r"/>
            <a:r>
              <a:rPr sz="1000" b="1">
                <a:solidFill>
                  <a:srgbClr val="475569"/>
                </a:solidFill>
                <a:latin typeface="微软雅黑" panose="020B0503020204020204" charset="-122"/>
              </a:rPr>
              <a:t>12</a:t>
            </a:r>
            <a:endParaRPr sz="1000" b="1">
              <a:solidFill>
                <a:srgbClr val="475569"/>
              </a:solidFill>
              <a:latin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3840480" cy="201168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r>
              <a:rPr sz="850" b="0">
                <a:solidFill>
                  <a:srgbClr val="475569"/>
                </a:solidFill>
                <a:latin typeface="微软雅黑" panose="020B0503020204020204" charset="-122"/>
              </a:rPr>
              <a:t>DBMS-5 · 成员分工 · 实现与演示</a:t>
            </a:r>
            <a:endParaRPr sz="850" b="0">
              <a:solidFill>
                <a:srgbClr val="475569"/>
              </a:solidFill>
              <a:latin typeface="微软雅黑" panose="020B0503020204020204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02920" y="1097280"/>
            <a:ext cx="2011680" cy="32004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r>
              <a:rPr sz="1800" b="1">
                <a:solidFill>
                  <a:srgbClr val="D97706"/>
                </a:solidFill>
                <a:latin typeface="微软雅黑" panose="020B0503020204020204" charset="-122"/>
              </a:rPr>
              <a:t>王凯</a:t>
            </a:r>
            <a:endParaRPr sz="1800" b="1">
              <a:solidFill>
                <a:srgbClr val="D97706"/>
              </a:solidFill>
              <a:latin typeface="微软雅黑" panose="020B0503020204020204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2423160" y="1097280"/>
            <a:ext cx="6400800" cy="32004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r>
              <a:rPr sz="1400" b="0">
                <a:solidFill>
                  <a:srgbClr val="475569"/>
                </a:solidFill>
                <a:latin typeface="微软雅黑" panose="020B0503020204020204" charset="-122"/>
              </a:rPr>
              <a:t>JOIN / GROUP BY / HAVING</a:t>
            </a:r>
            <a:endParaRPr sz="1400" b="0">
              <a:solidFill>
                <a:srgbClr val="475569"/>
              </a:solidFill>
              <a:latin typeface="微软雅黑" panose="020B0503020204020204" charset="-122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502920" y="1481328"/>
            <a:ext cx="10698480" cy="1828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40080" y="1828800"/>
            <a:ext cx="5715000" cy="356616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03_cli_join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992629"/>
            <a:ext cx="5715000" cy="32385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629400" y="1920240"/>
            <a:ext cx="4572000" cy="2286000"/>
          </a:xfrm>
          <a:prstGeom prst="rect">
            <a:avLst/>
          </a:prstGeom>
          <a:noFill/>
        </p:spPr>
        <p:txBody>
          <a:bodyPr wrap="square" lIns="73152" rIns="54864">
            <a:spAutoFit/>
          </a:bodyPr>
          <a:lstStyle/>
          <a:p>
            <a:pPr>
              <a:spcAft>
                <a:spcPts val="500"/>
              </a:spcAft>
              <a:defRPr sz="1600">
                <a:solidFill>
                  <a:srgbClr val="0F172A"/>
                </a:solidFill>
                <a:latin typeface="微软雅黑" panose="020B0503020204020204" charset="-122"/>
              </a:defRPr>
            </a:pPr>
            <a:r>
              <a:t>INNER JOIN ON：把 users.uid 和 orders.user_id 相等的行组合。</a:t>
            </a:r>
          </a:p>
          <a:p>
            <a:pPr>
              <a:spcAft>
                <a:spcPts val="500"/>
              </a:spcAft>
              <a:defRPr sz="1600">
                <a:solidFill>
                  <a:srgbClr val="0F172A"/>
                </a:solidFill>
                <a:latin typeface="微软雅黑" panose="020B0503020204020204" charset="-122"/>
              </a:defRPr>
            </a:pPr>
            <a:r>
              <a:t>ORDER BY amount DESC：结果按订单金额从高到低展示。</a:t>
            </a:r>
          </a:p>
          <a:p>
            <a:pPr>
              <a:spcAft>
                <a:spcPts val="500"/>
              </a:spcAft>
              <a:defRPr sz="1600">
                <a:solidFill>
                  <a:srgbClr val="0F172A"/>
                </a:solidFill>
                <a:latin typeface="微软雅黑" panose="020B0503020204020204" charset="-122"/>
              </a:defRPr>
            </a:pPr>
            <a:r>
              <a:t>GROUP BY region + SUM/COUNT：按地区汇总订单数和金额。</a:t>
            </a:r>
          </a:p>
          <a:p>
            <a:pPr>
              <a:spcAft>
                <a:spcPts val="500"/>
              </a:spcAft>
              <a:defRPr sz="1600">
                <a:solidFill>
                  <a:srgbClr val="0F172A"/>
                </a:solidFill>
                <a:latin typeface="微软雅黑" panose="020B0503020204020204" charset="-122"/>
              </a:defRPr>
            </a:pPr>
            <a:r>
              <a:t>HAVING COUNT(o.oid) &gt;= 2：过滤掉订单数不足的分组。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37960" y="4663440"/>
            <a:ext cx="4754880" cy="74980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537960" y="4663440"/>
            <a:ext cx="54864" cy="74980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702552" y="4791455"/>
            <a:ext cx="4480560" cy="22860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r>
              <a:rPr sz="1300" b="1">
                <a:solidFill>
                  <a:srgbClr val="D97706"/>
                </a:solidFill>
                <a:latin typeface="微软雅黑" panose="020B0503020204020204" charset="-122"/>
              </a:rPr>
              <a:t>验收结果</a:t>
            </a:r>
            <a:endParaRPr sz="1300" b="1">
              <a:solidFill>
                <a:srgbClr val="D97706"/>
              </a:solidFill>
              <a:latin typeface="微软雅黑" panose="020B0503020204020204" charset="-122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6702552" y="5120640"/>
            <a:ext cx="4480560" cy="182879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r>
              <a:rPr sz="1100" b="0">
                <a:solidFill>
                  <a:srgbClr val="0F172A"/>
                </a:solidFill>
                <a:latin typeface="微软雅黑" panose="020B0503020204020204" charset="-122"/>
              </a:rPr>
              <a:t>CLI 结果表出现联表字段和聚合字段，说明 Parser 与 Executor 都覆盖复杂 SELECT。</a:t>
            </a:r>
            <a:endParaRPr sz="1100" b="0">
              <a:solidFill>
                <a:srgbClr val="0F172A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10896"/>
            <a:ext cx="2743200" cy="22860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r>
              <a:rPr sz="950" b="1">
                <a:solidFill>
                  <a:srgbClr val="6D28D9"/>
                </a:solidFill>
                <a:latin typeface="微软雅黑" panose="020B0503020204020204" charset="-122"/>
              </a:rPr>
              <a:t>张浩然</a:t>
            </a:r>
            <a:endParaRPr sz="950" b="1">
              <a:solidFill>
                <a:srgbClr val="6D28D9"/>
              </a:solidFill>
              <a:latin typeface="微软雅黑" panose="020B050302020402020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9052560" cy="50292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r>
              <a:rPr sz="2500" b="1">
                <a:solidFill>
                  <a:srgbClr val="0F172A"/>
                </a:solidFill>
                <a:latin typeface="微软雅黑" panose="020B0503020204020204" charset="-122"/>
              </a:rPr>
              <a:t>CLI 与 Qt 前端：输入、执行、渲染结果</a:t>
            </a:r>
            <a:endParaRPr sz="2500" b="1">
              <a:solidFill>
                <a:srgbClr val="0F172A"/>
              </a:solidFill>
              <a:latin typeface="微软雅黑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1109960" y="320040"/>
            <a:ext cx="502920" cy="27432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 algn="r"/>
            <a:r>
              <a:rPr sz="1000" b="1">
                <a:solidFill>
                  <a:srgbClr val="475569"/>
                </a:solidFill>
                <a:latin typeface="微软雅黑" panose="020B0503020204020204" charset="-122"/>
              </a:rPr>
              <a:t>13</a:t>
            </a:r>
            <a:endParaRPr sz="1000" b="1">
              <a:solidFill>
                <a:srgbClr val="475569"/>
              </a:solidFill>
              <a:latin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3840480" cy="201168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r>
              <a:rPr sz="850" b="0">
                <a:solidFill>
                  <a:srgbClr val="475569"/>
                </a:solidFill>
                <a:latin typeface="微软雅黑" panose="020B0503020204020204" charset="-122"/>
              </a:rPr>
              <a:t>DBMS-5 · 成员分工 · 实现与演示</a:t>
            </a:r>
            <a:endParaRPr sz="850" b="0">
              <a:solidFill>
                <a:srgbClr val="475569"/>
              </a:solidFill>
              <a:latin typeface="微软雅黑" panose="020B0503020204020204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02920" y="1097280"/>
            <a:ext cx="2011680" cy="32004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r>
              <a:rPr sz="1800" b="1">
                <a:solidFill>
                  <a:srgbClr val="6D28D9"/>
                </a:solidFill>
                <a:latin typeface="微软雅黑" panose="020B0503020204020204" charset="-122"/>
              </a:rPr>
              <a:t>张浩然</a:t>
            </a:r>
            <a:endParaRPr sz="1800" b="1">
              <a:solidFill>
                <a:srgbClr val="6D28D9"/>
              </a:solidFill>
              <a:latin typeface="微软雅黑" panose="020B0503020204020204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2423160" y="1097280"/>
            <a:ext cx="6400800" cy="32004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r>
              <a:rPr sz="1400" b="0">
                <a:solidFill>
                  <a:srgbClr val="475569"/>
                </a:solidFill>
                <a:latin typeface="微软雅黑" panose="020B0503020204020204" charset="-122"/>
              </a:rPr>
              <a:t>CLI / Qt 前端</a:t>
            </a:r>
            <a:endParaRPr sz="1400" b="0">
              <a:solidFill>
                <a:srgbClr val="475569"/>
              </a:solidFill>
              <a:latin typeface="微软雅黑" panose="020B0503020204020204" charset="-122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502920" y="1481328"/>
            <a:ext cx="10698480" cy="18288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31520" y="1828800"/>
            <a:ext cx="3108960" cy="10972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31520" y="1828800"/>
            <a:ext cx="54864" cy="1097280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96112" y="1956816"/>
            <a:ext cx="2834640" cy="22860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r>
              <a:rPr sz="1300" b="1">
                <a:solidFill>
                  <a:srgbClr val="6D28D9"/>
                </a:solidFill>
                <a:latin typeface="微软雅黑" panose="020B0503020204020204" charset="-122"/>
              </a:rPr>
              <a:t>CLI</a:t>
            </a:r>
            <a:endParaRPr sz="1300" b="1">
              <a:solidFill>
                <a:srgbClr val="6D28D9"/>
              </a:solidFill>
              <a:latin typeface="微软雅黑" panose="020B0503020204020204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896112" y="2286000"/>
            <a:ext cx="2834640" cy="530352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r>
              <a:rPr sz="1150" b="0">
                <a:solidFill>
                  <a:srgbClr val="0F172A"/>
                </a:solidFill>
                <a:latin typeface="微软雅黑" panose="020B0503020204020204" charset="-122"/>
              </a:rPr>
              <a:t>Repl 接收 SQL；CLISession 保存用户和当前库；Formatter 将 QueryResult 渲染成终端表格。</a:t>
            </a:r>
            <a:endParaRPr sz="1150" b="0">
              <a:solidFill>
                <a:srgbClr val="0F172A"/>
              </a:solidFill>
              <a:latin typeface="微软雅黑" panose="020B0503020204020204" charset="-122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4251960" y="1828800"/>
            <a:ext cx="3108960" cy="10972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251960" y="1828800"/>
            <a:ext cx="54864" cy="10972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16552" y="1956816"/>
            <a:ext cx="2834640" cy="22860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r>
              <a:rPr sz="1300" b="1">
                <a:solidFill>
                  <a:srgbClr val="2563EB"/>
                </a:solidFill>
                <a:latin typeface="微软雅黑" panose="020B0503020204020204" charset="-122"/>
              </a:rPr>
              <a:t>Qt 主窗口</a:t>
            </a:r>
            <a:endParaRPr sz="1300" b="1">
              <a:solidFill>
                <a:srgbClr val="2563EB"/>
              </a:solidFill>
              <a:latin typeface="微软雅黑" panose="020B0503020204020204" charset="-122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4416552" y="2286000"/>
            <a:ext cx="2834640" cy="530352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r>
              <a:rPr sz="1150" b="0">
                <a:solidFill>
                  <a:srgbClr val="0F172A"/>
                </a:solidFill>
                <a:latin typeface="微软雅黑" panose="020B0503020204020204" charset="-122"/>
              </a:rPr>
              <a:t>MainWindow 统一信号槽；左侧对象树、中间数据/SQL、右侧 Admin/Status。</a:t>
            </a:r>
            <a:endParaRPr sz="1150" b="0">
              <a:solidFill>
                <a:srgbClr val="0F172A"/>
              </a:solidFill>
              <a:latin typeface="微软雅黑" panose="020B0503020204020204" charset="-122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7772400" y="1828800"/>
            <a:ext cx="3108960" cy="10972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772400" y="1828800"/>
            <a:ext cx="54864" cy="109728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936992" y="1956816"/>
            <a:ext cx="2834640" cy="22860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r>
              <a:rPr sz="1300" b="1">
                <a:solidFill>
                  <a:srgbClr val="059669"/>
                </a:solidFill>
                <a:latin typeface="微软雅黑" panose="020B0503020204020204" charset="-122"/>
              </a:rPr>
              <a:t>统一后端</a:t>
            </a:r>
            <a:endParaRPr sz="1300" b="1">
              <a:solidFill>
                <a:srgbClr val="059669"/>
              </a:solidFill>
              <a:latin typeface="微软雅黑" panose="020B0503020204020204" charset="-122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7936992" y="2286000"/>
            <a:ext cx="2834640" cy="530352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r>
              <a:rPr sz="1150" b="0">
                <a:solidFill>
                  <a:srgbClr val="0F172A"/>
                </a:solidFill>
                <a:latin typeface="微软雅黑" panose="020B0503020204020204" charset="-122"/>
              </a:rPr>
              <a:t>QtSessionAdapter 调用 DBEngine::execute，不在 UI 层重新解析 SQL 或绕过权限。</a:t>
            </a:r>
            <a:endParaRPr sz="1150" b="0">
              <a:solidFill>
                <a:srgbClr val="0F172A"/>
              </a:solidFill>
              <a:latin typeface="微软雅黑" panose="020B0503020204020204" charset="-122"/>
            </a:endParaRPr>
          </a:p>
        </p:txBody>
      </p:sp>
      <p:sp>
        <p:nvSpPr>
          <p:cNvPr id="22" name="Rounded Rectangle 21"/>
          <p:cNvSpPr/>
          <p:nvPr/>
        </p:nvSpPr>
        <p:spPr>
          <a:xfrm>
            <a:off x="868680" y="3703320"/>
            <a:ext cx="4754880" cy="169164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Picture 22" descr="01_cli_ddl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53496" y="3703320"/>
            <a:ext cx="2985247" cy="1691640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6080760" y="3840480"/>
            <a:ext cx="5029200" cy="1280160"/>
          </a:xfrm>
          <a:prstGeom prst="rect">
            <a:avLst/>
          </a:prstGeom>
          <a:noFill/>
        </p:spPr>
        <p:txBody>
          <a:bodyPr wrap="square" lIns="73152" rIns="54864">
            <a:spAutoFit/>
          </a:bodyPr>
          <a:lstStyle/>
          <a:p>
            <a:pPr>
              <a:spcAft>
                <a:spcPts val="500"/>
              </a:spcAft>
              <a:defRPr sz="1600">
                <a:solidFill>
                  <a:srgbClr val="0F172A"/>
                </a:solidFill>
                <a:latin typeface="微软雅黑" panose="020B0503020204020204" charset="-122"/>
              </a:defRPr>
            </a:pPr>
            <a:r>
              <a:t>CLI 演示价值：每条 SQL 后面立刻有结果，适合解释 DDL/DML/JOIN 等语义。</a:t>
            </a:r>
          </a:p>
          <a:p>
            <a:pPr>
              <a:spcAft>
                <a:spcPts val="500"/>
              </a:spcAft>
              <a:defRPr sz="1600">
                <a:solidFill>
                  <a:srgbClr val="0F172A"/>
                </a:solidFill>
                <a:latin typeface="微软雅黑" panose="020B0503020204020204" charset="-122"/>
              </a:defRPr>
            </a:pPr>
            <a:r>
              <a:t>Qt 演示价值：对象树和表格让结构变化、权限错误更直观。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10896"/>
            <a:ext cx="2743200" cy="22860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r>
              <a:rPr sz="950" b="1">
                <a:solidFill>
                  <a:srgbClr val="6D28D9"/>
                </a:solidFill>
                <a:latin typeface="微软雅黑" panose="020B0503020204020204" charset="-122"/>
              </a:rPr>
              <a:t>张浩然</a:t>
            </a:r>
            <a:endParaRPr sz="950" b="1">
              <a:solidFill>
                <a:srgbClr val="6D28D9"/>
              </a:solidFill>
              <a:latin typeface="微软雅黑" panose="020B050302020402020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9052560" cy="50292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r>
              <a:rPr sz="2500" b="1">
                <a:solidFill>
                  <a:srgbClr val="0F172A"/>
                </a:solidFill>
                <a:latin typeface="微软雅黑" panose="020B0503020204020204" charset="-122"/>
              </a:rPr>
              <a:t>Qt 组件边界：界面不绕过数据库内核</a:t>
            </a:r>
            <a:endParaRPr sz="2500" b="1">
              <a:solidFill>
                <a:srgbClr val="0F172A"/>
              </a:solidFill>
              <a:latin typeface="微软雅黑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1109960" y="320040"/>
            <a:ext cx="502920" cy="27432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 algn="r"/>
            <a:r>
              <a:rPr sz="1000" b="1">
                <a:solidFill>
                  <a:srgbClr val="475569"/>
                </a:solidFill>
                <a:latin typeface="微软雅黑" panose="020B0503020204020204" charset="-122"/>
              </a:rPr>
              <a:t>14</a:t>
            </a:r>
            <a:endParaRPr sz="1000" b="1">
              <a:solidFill>
                <a:srgbClr val="475569"/>
              </a:solidFill>
              <a:latin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3840480" cy="201168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r>
              <a:rPr sz="850" b="0">
                <a:solidFill>
                  <a:srgbClr val="475569"/>
                </a:solidFill>
                <a:latin typeface="微软雅黑" panose="020B0503020204020204" charset="-122"/>
              </a:rPr>
              <a:t>DBMS-5 · 成员分工 · 实现与演示</a:t>
            </a:r>
            <a:endParaRPr sz="850" b="0">
              <a:solidFill>
                <a:srgbClr val="475569"/>
              </a:solidFill>
              <a:latin typeface="微软雅黑" panose="020B0503020204020204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02920" y="1097280"/>
            <a:ext cx="2011680" cy="32004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r>
              <a:rPr sz="1800" b="1">
                <a:solidFill>
                  <a:srgbClr val="6D28D9"/>
                </a:solidFill>
                <a:latin typeface="微软雅黑" panose="020B0503020204020204" charset="-122"/>
              </a:rPr>
              <a:t>张浩然</a:t>
            </a:r>
            <a:endParaRPr sz="1800" b="1">
              <a:solidFill>
                <a:srgbClr val="6D28D9"/>
              </a:solidFill>
              <a:latin typeface="微软雅黑" panose="020B0503020204020204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2423160" y="1097280"/>
            <a:ext cx="6400800" cy="32004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r>
              <a:rPr sz="1400" b="0">
                <a:solidFill>
                  <a:srgbClr val="475569"/>
                </a:solidFill>
                <a:latin typeface="微软雅黑" panose="020B0503020204020204" charset="-122"/>
              </a:rPr>
              <a:t>MainWindow / QtSessionAdapter / Panels</a:t>
            </a:r>
            <a:endParaRPr sz="1400" b="0">
              <a:solidFill>
                <a:srgbClr val="475569"/>
              </a:solidFill>
              <a:latin typeface="微软雅黑" panose="020B0503020204020204" charset="-122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502920" y="1481328"/>
            <a:ext cx="10698480" cy="18288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40080" y="1828800"/>
            <a:ext cx="3246120" cy="1051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" y="1828800"/>
            <a:ext cx="54864" cy="105156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4671" y="1956816"/>
            <a:ext cx="2971800" cy="22860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r>
              <a:rPr sz="1300" b="1">
                <a:solidFill>
                  <a:srgbClr val="2563EB"/>
                </a:solidFill>
                <a:latin typeface="微软雅黑" panose="020B0503020204020204" charset="-122"/>
              </a:rPr>
              <a:t>SessionPanel</a:t>
            </a:r>
            <a:endParaRPr sz="1300" b="1">
              <a:solidFill>
                <a:srgbClr val="2563EB"/>
              </a:solidFill>
              <a:latin typeface="微软雅黑" panose="020B0503020204020204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804671" y="2286000"/>
            <a:ext cx="2971800" cy="484631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r>
              <a:rPr sz="1100" b="0">
                <a:solidFill>
                  <a:srgbClr val="0F172A"/>
                </a:solidFill>
                <a:latin typeface="微软雅黑" panose="020B0503020204020204" charset="-122"/>
              </a:rPr>
              <a:t>登录、当前用户、当前库、事务状态</a:t>
            </a:r>
            <a:endParaRPr sz="1100" b="0">
              <a:solidFill>
                <a:srgbClr val="0F172A"/>
              </a:solidFill>
              <a:latin typeface="微软雅黑" panose="020B0503020204020204" charset="-122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4434840" y="1828800"/>
            <a:ext cx="3246120" cy="1051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434840" y="1828800"/>
            <a:ext cx="54864" cy="105156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99432" y="1956816"/>
            <a:ext cx="2971800" cy="22860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r>
              <a:rPr sz="1300" b="1">
                <a:solidFill>
                  <a:srgbClr val="059669"/>
                </a:solidFill>
                <a:latin typeface="微软雅黑" panose="020B0503020204020204" charset="-122"/>
              </a:rPr>
              <a:t>DatabaseTreePanel</a:t>
            </a:r>
            <a:endParaRPr sz="1300" b="1">
              <a:solidFill>
                <a:srgbClr val="059669"/>
              </a:solidFill>
              <a:latin typeface="微软雅黑" panose="020B0503020204020204" charset="-122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4599432" y="2286000"/>
            <a:ext cx="2971800" cy="484631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r>
              <a:rPr sz="1100" b="0">
                <a:solidFill>
                  <a:srgbClr val="0F172A"/>
                </a:solidFill>
                <a:latin typeface="微软雅黑" panose="020B0503020204020204" charset="-122"/>
              </a:rPr>
              <a:t>数据库、表、列、索引、用户权限树</a:t>
            </a:r>
            <a:endParaRPr sz="1100" b="0">
              <a:solidFill>
                <a:srgbClr val="0F172A"/>
              </a:solidFill>
              <a:latin typeface="微软雅黑" panose="020B0503020204020204" charset="-122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8229600" y="1828800"/>
            <a:ext cx="3246120" cy="1051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229600" y="1828800"/>
            <a:ext cx="54864" cy="105156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394192" y="1956816"/>
            <a:ext cx="2971800" cy="22860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r>
              <a:rPr sz="1300" b="1">
                <a:solidFill>
                  <a:srgbClr val="D97706"/>
                </a:solidFill>
                <a:latin typeface="微软雅黑" panose="020B0503020204020204" charset="-122"/>
              </a:rPr>
              <a:t>AdminPanel</a:t>
            </a:r>
            <a:endParaRPr sz="1300" b="1">
              <a:solidFill>
                <a:srgbClr val="D97706"/>
              </a:solidFill>
              <a:latin typeface="微软雅黑" panose="020B0503020204020204" charset="-122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8394192" y="2286000"/>
            <a:ext cx="2971800" cy="484631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r>
              <a:rPr sz="1100" b="0">
                <a:solidFill>
                  <a:srgbClr val="0F172A"/>
                </a:solidFill>
                <a:latin typeface="微软雅黑" panose="020B0503020204020204" charset="-122"/>
              </a:rPr>
              <a:t>生成建库、建表、建索引、授权 SQL</a:t>
            </a:r>
            <a:endParaRPr sz="1100" b="0">
              <a:solidFill>
                <a:srgbClr val="0F172A"/>
              </a:solidFill>
              <a:latin typeface="微软雅黑" panose="020B0503020204020204" charset="-122"/>
            </a:endParaRPr>
          </a:p>
        </p:txBody>
      </p:sp>
      <p:sp>
        <p:nvSpPr>
          <p:cNvPr id="22" name="Rounded Rectangle 21"/>
          <p:cNvSpPr/>
          <p:nvPr/>
        </p:nvSpPr>
        <p:spPr>
          <a:xfrm>
            <a:off x="640080" y="3337560"/>
            <a:ext cx="3246120" cy="1051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40080" y="3337560"/>
            <a:ext cx="54864" cy="1051560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04671" y="3465576"/>
            <a:ext cx="2971800" cy="22860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r>
              <a:rPr sz="1300" b="1">
                <a:solidFill>
                  <a:srgbClr val="6D28D9"/>
                </a:solidFill>
                <a:latin typeface="微软雅黑" panose="020B0503020204020204" charset="-122"/>
              </a:rPr>
              <a:t>TableEditorPanel</a:t>
            </a:r>
            <a:endParaRPr sz="1300" b="1">
              <a:solidFill>
                <a:srgbClr val="6D28D9"/>
              </a:solidFill>
              <a:latin typeface="微软雅黑" panose="020B0503020204020204" charset="-122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804671" y="3794760"/>
            <a:ext cx="2971800" cy="484631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r>
              <a:rPr sz="1100" b="0">
                <a:solidFill>
                  <a:srgbClr val="0F172A"/>
                </a:solidFill>
                <a:latin typeface="微软雅黑" panose="020B0503020204020204" charset="-122"/>
              </a:rPr>
              <a:t>表格新增、删除、保存为 DML</a:t>
            </a:r>
            <a:endParaRPr sz="1100" b="0">
              <a:solidFill>
                <a:srgbClr val="0F172A"/>
              </a:solidFill>
              <a:latin typeface="微软雅黑" panose="020B0503020204020204" charset="-122"/>
            </a:endParaRPr>
          </a:p>
        </p:txBody>
      </p:sp>
      <p:sp>
        <p:nvSpPr>
          <p:cNvPr id="26" name="Rounded Rectangle 25"/>
          <p:cNvSpPr/>
          <p:nvPr/>
        </p:nvSpPr>
        <p:spPr>
          <a:xfrm>
            <a:off x="4434840" y="3337560"/>
            <a:ext cx="3246120" cy="1051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434840" y="3337560"/>
            <a:ext cx="54864" cy="105156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599432" y="3465576"/>
            <a:ext cx="2971800" cy="22860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r>
              <a:rPr sz="1300" b="1">
                <a:solidFill>
                  <a:srgbClr val="DC2626"/>
                </a:solidFill>
                <a:latin typeface="微软雅黑" panose="020B0503020204020204" charset="-122"/>
              </a:rPr>
              <a:t>ResultTablePanel</a:t>
            </a:r>
            <a:endParaRPr sz="1300" b="1">
              <a:solidFill>
                <a:srgbClr val="DC2626"/>
              </a:solidFill>
              <a:latin typeface="微软雅黑" panose="020B0503020204020204" charset="-122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4599432" y="3794760"/>
            <a:ext cx="2971800" cy="484631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r>
              <a:rPr sz="1100" b="0">
                <a:solidFill>
                  <a:srgbClr val="0F172A"/>
                </a:solidFill>
                <a:latin typeface="微软雅黑" panose="020B0503020204020204" charset="-122"/>
              </a:rPr>
              <a:t>渲染 QueryResult.columns / rows</a:t>
            </a:r>
            <a:endParaRPr sz="1100" b="0">
              <a:solidFill>
                <a:srgbClr val="0F172A"/>
              </a:solidFill>
              <a:latin typeface="微软雅黑" panose="020B0503020204020204" charset="-122"/>
            </a:endParaRPr>
          </a:p>
        </p:txBody>
      </p:sp>
      <p:sp>
        <p:nvSpPr>
          <p:cNvPr id="30" name="Rounded Rectangle 29"/>
          <p:cNvSpPr/>
          <p:nvPr/>
        </p:nvSpPr>
        <p:spPr>
          <a:xfrm>
            <a:off x="8229600" y="3337560"/>
            <a:ext cx="3246120" cy="1051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229600" y="3337560"/>
            <a:ext cx="54864" cy="105156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394192" y="3465576"/>
            <a:ext cx="2971800" cy="22860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r>
              <a:rPr sz="1300" b="1">
                <a:solidFill>
                  <a:srgbClr val="334155"/>
                </a:solidFill>
                <a:latin typeface="微软雅黑" panose="020B0503020204020204" charset="-122"/>
              </a:rPr>
              <a:t>StatusMetaPanel</a:t>
            </a:r>
            <a:endParaRPr sz="1300" b="1">
              <a:solidFill>
                <a:srgbClr val="334155"/>
              </a:solidFill>
              <a:latin typeface="微软雅黑" panose="020B0503020204020204" charset="-122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8394192" y="3794760"/>
            <a:ext cx="2971800" cy="484631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r>
              <a:rPr sz="1100" b="0">
                <a:solidFill>
                  <a:srgbClr val="0F172A"/>
                </a:solidFill>
                <a:latin typeface="微软雅黑" panose="020B0503020204020204" charset="-122"/>
              </a:rPr>
              <a:t>错误、耗时、affectedRows 和状态</a:t>
            </a:r>
            <a:endParaRPr sz="1100" b="0">
              <a:solidFill>
                <a:srgbClr val="0F172A"/>
              </a:solidFill>
              <a:latin typeface="微软雅黑" panose="020B0503020204020204" charset="-122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822960" y="5257800"/>
            <a:ext cx="10424160" cy="685800"/>
          </a:xfrm>
          <a:prstGeom prst="rect">
            <a:avLst/>
          </a:prstGeom>
          <a:noFill/>
        </p:spPr>
        <p:txBody>
          <a:bodyPr wrap="square" lIns="73152" rIns="54864">
            <a:spAutoFit/>
          </a:bodyPr>
          <a:lstStyle/>
          <a:p>
            <a:pPr>
              <a:spcAft>
                <a:spcPts val="500"/>
              </a:spcAft>
              <a:defRPr sz="1600">
                <a:solidFill>
                  <a:srgbClr val="0F172A"/>
                </a:solidFill>
                <a:latin typeface="微软雅黑" panose="020B0503020204020204" charset="-122"/>
              </a:defRPr>
            </a:pPr>
            <a:r>
              <a:t>关键边界：UI 只生成 SQL 和渲染 QueryResult，不直接修改 data 文件。</a:t>
            </a:r>
          </a:p>
          <a:p>
            <a:pPr>
              <a:spcAft>
                <a:spcPts val="500"/>
              </a:spcAft>
              <a:defRPr sz="1600">
                <a:solidFill>
                  <a:srgbClr val="0F172A"/>
                </a:solidFill>
                <a:latin typeface="微软雅黑" panose="020B0503020204020204" charset="-122"/>
              </a:defRPr>
            </a:pPr>
            <a:r>
              <a:t>这样演示时每个界面动作都能映射到一条可复查的 SQL。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10896"/>
            <a:ext cx="2743200" cy="22860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r>
              <a:rPr sz="950" b="1">
                <a:solidFill>
                  <a:srgbClr val="6D28D9"/>
                </a:solidFill>
                <a:latin typeface="微软雅黑" panose="020B0503020204020204" charset="-122"/>
              </a:rPr>
              <a:t>张浩然</a:t>
            </a:r>
            <a:endParaRPr sz="950" b="1">
              <a:solidFill>
                <a:srgbClr val="6D28D9"/>
              </a:solidFill>
              <a:latin typeface="微软雅黑" panose="020B050302020402020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9052560" cy="50292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r>
              <a:rPr sz="2500" b="1">
                <a:solidFill>
                  <a:srgbClr val="0F172A"/>
                </a:solidFill>
                <a:latin typeface="微软雅黑" panose="020B0503020204020204" charset="-122"/>
              </a:rPr>
              <a:t>登录与对象树：Session / Catalog Refresh</a:t>
            </a:r>
            <a:endParaRPr sz="2500" b="1">
              <a:solidFill>
                <a:srgbClr val="0F172A"/>
              </a:solidFill>
              <a:latin typeface="微软雅黑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1109960" y="320040"/>
            <a:ext cx="502920" cy="27432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 algn="r"/>
            <a:r>
              <a:rPr sz="1000" b="1">
                <a:solidFill>
                  <a:srgbClr val="475569"/>
                </a:solidFill>
                <a:latin typeface="微软雅黑" panose="020B0503020204020204" charset="-122"/>
              </a:rPr>
              <a:t>15</a:t>
            </a:r>
            <a:endParaRPr sz="1000" b="1">
              <a:solidFill>
                <a:srgbClr val="475569"/>
              </a:solidFill>
              <a:latin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3840480" cy="201168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r>
              <a:rPr sz="850" b="0">
                <a:solidFill>
                  <a:srgbClr val="475569"/>
                </a:solidFill>
                <a:latin typeface="微软雅黑" panose="020B0503020204020204" charset="-122"/>
              </a:rPr>
              <a:t>DBMS-5 · 成员分工 · 实现与演示</a:t>
            </a:r>
            <a:endParaRPr sz="850" b="0">
              <a:solidFill>
                <a:srgbClr val="475569"/>
              </a:solidFill>
              <a:latin typeface="微软雅黑" panose="020B0503020204020204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02920" y="1097280"/>
            <a:ext cx="2011680" cy="32004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r>
              <a:rPr sz="1800" b="1">
                <a:solidFill>
                  <a:srgbClr val="6D28D9"/>
                </a:solidFill>
                <a:latin typeface="微软雅黑" panose="020B0503020204020204" charset="-122"/>
              </a:rPr>
              <a:t>张浩然</a:t>
            </a:r>
            <a:endParaRPr sz="1800" b="1">
              <a:solidFill>
                <a:srgbClr val="6D28D9"/>
              </a:solidFill>
              <a:latin typeface="微软雅黑" panose="020B0503020204020204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2423160" y="1097280"/>
            <a:ext cx="6400800" cy="32004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r>
              <a:rPr sz="1400" b="0">
                <a:solidFill>
                  <a:srgbClr val="475569"/>
                </a:solidFill>
                <a:latin typeface="微软雅黑" panose="020B0503020204020204" charset="-122"/>
              </a:rPr>
              <a:t>Qt 界面演示</a:t>
            </a:r>
            <a:endParaRPr sz="1400" b="0">
              <a:solidFill>
                <a:srgbClr val="475569"/>
              </a:solidFill>
              <a:latin typeface="微软雅黑" panose="020B0503020204020204" charset="-122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502920" y="1481328"/>
            <a:ext cx="10698480" cy="18288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594360" y="1691640"/>
            <a:ext cx="6446520" cy="43434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01_login_tre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2169449"/>
            <a:ext cx="6446520" cy="338778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7360920" y="1920240"/>
            <a:ext cx="4160520" cy="2194560"/>
          </a:xfrm>
          <a:prstGeom prst="rect">
            <a:avLst/>
          </a:prstGeom>
          <a:noFill/>
        </p:spPr>
        <p:txBody>
          <a:bodyPr wrap="square" lIns="73152" rIns="54864">
            <a:spAutoFit/>
          </a:bodyPr>
          <a:lstStyle/>
          <a:p>
            <a:pPr>
              <a:spcAft>
                <a:spcPts val="500"/>
              </a:spcAft>
              <a:defRPr sz="1600">
                <a:solidFill>
                  <a:srgbClr val="0F172A"/>
                </a:solidFill>
                <a:latin typeface="微软雅黑" panose="020B0503020204020204" charset="-122"/>
              </a:defRPr>
            </a:pPr>
            <a:r>
              <a:t>root/root 登录后当前用户和当前库可见。</a:t>
            </a:r>
          </a:p>
          <a:p>
            <a:pPr>
              <a:spcAft>
                <a:spcPts val="500"/>
              </a:spcAft>
              <a:defRPr sz="1600">
                <a:solidFill>
                  <a:srgbClr val="0F172A"/>
                </a:solidFill>
                <a:latin typeface="微软雅黑" panose="020B0503020204020204" charset="-122"/>
              </a:defRPr>
            </a:pPr>
            <a:r>
              <a:t>对象树刷新数据库、表、列、索引节点。</a:t>
            </a:r>
          </a:p>
          <a:p>
            <a:pPr>
              <a:spcAft>
                <a:spcPts val="500"/>
              </a:spcAft>
              <a:defRPr sz="1600">
                <a:solidFill>
                  <a:srgbClr val="0F172A"/>
                </a:solidFill>
                <a:latin typeface="微软雅黑" panose="020B0503020204020204" charset="-122"/>
              </a:defRPr>
            </a:pPr>
            <a:r>
              <a:t>结果解释：连接成功后目录状态来自后端 catalog。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10896"/>
            <a:ext cx="2743200" cy="22860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r>
              <a:rPr sz="950" b="1">
                <a:solidFill>
                  <a:srgbClr val="6D28D9"/>
                </a:solidFill>
                <a:latin typeface="微软雅黑" panose="020B0503020204020204" charset="-122"/>
              </a:rPr>
              <a:t>张浩然</a:t>
            </a:r>
            <a:endParaRPr sz="950" b="1">
              <a:solidFill>
                <a:srgbClr val="6D28D9"/>
              </a:solidFill>
              <a:latin typeface="微软雅黑" panose="020B050302020402020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9052560" cy="50292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r>
              <a:rPr sz="2500" b="1">
                <a:solidFill>
                  <a:srgbClr val="0F172A"/>
                </a:solidFill>
                <a:latin typeface="微软雅黑" panose="020B0503020204020204" charset="-122"/>
              </a:rPr>
              <a:t>Admin 建库建表：表单生成 DDL</a:t>
            </a:r>
            <a:endParaRPr sz="2500" b="1">
              <a:solidFill>
                <a:srgbClr val="0F172A"/>
              </a:solidFill>
              <a:latin typeface="微软雅黑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1109960" y="320040"/>
            <a:ext cx="502920" cy="27432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 algn="r"/>
            <a:r>
              <a:rPr sz="1000" b="1">
                <a:solidFill>
                  <a:srgbClr val="475569"/>
                </a:solidFill>
                <a:latin typeface="微软雅黑" panose="020B0503020204020204" charset="-122"/>
              </a:rPr>
              <a:t>16</a:t>
            </a:r>
            <a:endParaRPr sz="1000" b="1">
              <a:solidFill>
                <a:srgbClr val="475569"/>
              </a:solidFill>
              <a:latin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3840480" cy="201168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r>
              <a:rPr sz="850" b="0">
                <a:solidFill>
                  <a:srgbClr val="475569"/>
                </a:solidFill>
                <a:latin typeface="微软雅黑" panose="020B0503020204020204" charset="-122"/>
              </a:rPr>
              <a:t>DBMS-5 · 成员分工 · 实现与演示</a:t>
            </a:r>
            <a:endParaRPr sz="850" b="0">
              <a:solidFill>
                <a:srgbClr val="475569"/>
              </a:solidFill>
              <a:latin typeface="微软雅黑" panose="020B0503020204020204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02920" y="1097280"/>
            <a:ext cx="2011680" cy="32004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r>
              <a:rPr sz="1800" b="1">
                <a:solidFill>
                  <a:srgbClr val="6D28D9"/>
                </a:solidFill>
                <a:latin typeface="微软雅黑" panose="020B0503020204020204" charset="-122"/>
              </a:rPr>
              <a:t>张浩然</a:t>
            </a:r>
            <a:endParaRPr sz="1800" b="1">
              <a:solidFill>
                <a:srgbClr val="6D28D9"/>
              </a:solidFill>
              <a:latin typeface="微软雅黑" panose="020B0503020204020204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2423160" y="1097280"/>
            <a:ext cx="6400800" cy="32004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r>
              <a:rPr sz="1400" b="0">
                <a:solidFill>
                  <a:srgbClr val="475569"/>
                </a:solidFill>
                <a:latin typeface="微软雅黑" panose="020B0503020204020204" charset="-122"/>
              </a:rPr>
              <a:t>Qt 界面演示</a:t>
            </a:r>
            <a:endParaRPr sz="1400" b="0">
              <a:solidFill>
                <a:srgbClr val="475569"/>
              </a:solidFill>
              <a:latin typeface="微软雅黑" panose="020B0503020204020204" charset="-122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502920" y="1481328"/>
            <a:ext cx="10698480" cy="18288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594360" y="1691640"/>
            <a:ext cx="6446520" cy="43434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02_admin_create_db_tabl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2169449"/>
            <a:ext cx="6446520" cy="338778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7360920" y="1920240"/>
            <a:ext cx="4160520" cy="2194560"/>
          </a:xfrm>
          <a:prstGeom prst="rect">
            <a:avLst/>
          </a:prstGeom>
          <a:noFill/>
        </p:spPr>
        <p:txBody>
          <a:bodyPr wrap="square" lIns="73152" rIns="54864">
            <a:spAutoFit/>
          </a:bodyPr>
          <a:lstStyle/>
          <a:p>
            <a:pPr>
              <a:spcAft>
                <a:spcPts val="500"/>
              </a:spcAft>
              <a:defRPr sz="1600">
                <a:solidFill>
                  <a:srgbClr val="0F172A"/>
                </a:solidFill>
                <a:latin typeface="微软雅黑" panose="020B0503020204020204" charset="-122"/>
              </a:defRPr>
            </a:pPr>
            <a:r>
              <a:t>AdminPanel 根据字段表格生成 CREATE TABLE。</a:t>
            </a:r>
          </a:p>
          <a:p>
            <a:pPr>
              <a:spcAft>
                <a:spcPts val="500"/>
              </a:spcAft>
              <a:defRPr sz="1600">
                <a:solidFill>
                  <a:srgbClr val="0F172A"/>
                </a:solidFill>
                <a:latin typeface="微软雅黑" panose="020B0503020204020204" charset="-122"/>
              </a:defRPr>
            </a:pPr>
            <a:r>
              <a:t>勾选主键、非空等约束后由 Executor 写入结构。</a:t>
            </a:r>
          </a:p>
          <a:p>
            <a:pPr>
              <a:spcAft>
                <a:spcPts val="500"/>
              </a:spcAft>
              <a:defRPr sz="1600">
                <a:solidFill>
                  <a:srgbClr val="0F172A"/>
                </a:solidFill>
                <a:latin typeface="微软雅黑" panose="020B0503020204020204" charset="-122"/>
              </a:defRPr>
            </a:pPr>
            <a:r>
              <a:t>结果解释：树状图出现新库、新表和字段。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10896"/>
            <a:ext cx="2743200" cy="22860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r>
              <a:rPr sz="950" b="1">
                <a:solidFill>
                  <a:srgbClr val="6D28D9"/>
                </a:solidFill>
                <a:latin typeface="微软雅黑" panose="020B0503020204020204" charset="-122"/>
              </a:rPr>
              <a:t>张浩然</a:t>
            </a:r>
            <a:endParaRPr sz="950" b="1">
              <a:solidFill>
                <a:srgbClr val="6D28D9"/>
              </a:solidFill>
              <a:latin typeface="微软雅黑" panose="020B050302020402020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9052560" cy="50292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r>
              <a:rPr sz="2500" b="1">
                <a:solidFill>
                  <a:srgbClr val="0F172A"/>
                </a:solidFill>
                <a:latin typeface="微软雅黑" panose="020B0503020204020204" charset="-122"/>
              </a:rPr>
              <a:t>Table Data：插入、删除、约束错误</a:t>
            </a:r>
            <a:endParaRPr sz="2500" b="1">
              <a:solidFill>
                <a:srgbClr val="0F172A"/>
              </a:solidFill>
              <a:latin typeface="微软雅黑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1109960" y="320040"/>
            <a:ext cx="502920" cy="27432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 algn="r"/>
            <a:r>
              <a:rPr sz="1000" b="1">
                <a:solidFill>
                  <a:srgbClr val="475569"/>
                </a:solidFill>
                <a:latin typeface="微软雅黑" panose="020B0503020204020204" charset="-122"/>
              </a:rPr>
              <a:t>17</a:t>
            </a:r>
            <a:endParaRPr sz="1000" b="1">
              <a:solidFill>
                <a:srgbClr val="475569"/>
              </a:solidFill>
              <a:latin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3840480" cy="201168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r>
              <a:rPr sz="850" b="0">
                <a:solidFill>
                  <a:srgbClr val="475569"/>
                </a:solidFill>
                <a:latin typeface="微软雅黑" panose="020B0503020204020204" charset="-122"/>
              </a:rPr>
              <a:t>DBMS-5 · 成员分工 · 实现与演示</a:t>
            </a:r>
            <a:endParaRPr sz="850" b="0">
              <a:solidFill>
                <a:srgbClr val="475569"/>
              </a:solidFill>
              <a:latin typeface="微软雅黑" panose="020B0503020204020204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02920" y="1097280"/>
            <a:ext cx="2011680" cy="32004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r>
              <a:rPr sz="1800" b="1">
                <a:solidFill>
                  <a:srgbClr val="6D28D9"/>
                </a:solidFill>
                <a:latin typeface="微软雅黑" panose="020B0503020204020204" charset="-122"/>
              </a:rPr>
              <a:t>张浩然</a:t>
            </a:r>
            <a:endParaRPr sz="1800" b="1">
              <a:solidFill>
                <a:srgbClr val="6D28D9"/>
              </a:solidFill>
              <a:latin typeface="微软雅黑" panose="020B0503020204020204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2423160" y="1097280"/>
            <a:ext cx="6400800" cy="32004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r>
              <a:rPr sz="1400" b="0">
                <a:solidFill>
                  <a:srgbClr val="475569"/>
                </a:solidFill>
                <a:latin typeface="微软雅黑" panose="020B0503020204020204" charset="-122"/>
              </a:rPr>
              <a:t>Qt 界面演示</a:t>
            </a:r>
            <a:endParaRPr sz="1400" b="0">
              <a:solidFill>
                <a:srgbClr val="475569"/>
              </a:solidFill>
              <a:latin typeface="微软雅黑" panose="020B0503020204020204" charset="-122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502920" y="1481328"/>
            <a:ext cx="10698480" cy="18288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594360" y="1691640"/>
            <a:ext cx="6446520" cy="43434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03_table_data_cru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2169449"/>
            <a:ext cx="6446520" cy="338778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7360920" y="1920240"/>
            <a:ext cx="4160520" cy="2194560"/>
          </a:xfrm>
          <a:prstGeom prst="rect">
            <a:avLst/>
          </a:prstGeom>
          <a:noFill/>
        </p:spPr>
        <p:txBody>
          <a:bodyPr wrap="square" lIns="73152" rIns="54864">
            <a:spAutoFit/>
          </a:bodyPr>
          <a:lstStyle/>
          <a:p>
            <a:pPr>
              <a:spcAft>
                <a:spcPts val="500"/>
              </a:spcAft>
              <a:defRPr sz="1600">
                <a:solidFill>
                  <a:srgbClr val="0F172A"/>
                </a:solidFill>
                <a:latin typeface="微软雅黑" panose="020B0503020204020204" charset="-122"/>
              </a:defRPr>
            </a:pPr>
            <a:r>
              <a:t>Add Row / Delete Row 转为 INSERT / DELETE。</a:t>
            </a:r>
          </a:p>
          <a:p>
            <a:pPr>
              <a:spcAft>
                <a:spcPts val="500"/>
              </a:spcAft>
              <a:defRPr sz="1600">
                <a:solidFill>
                  <a:srgbClr val="0F172A"/>
                </a:solidFill>
                <a:latin typeface="微软雅黑" panose="020B0503020204020204" charset="-122"/>
              </a:defRPr>
            </a:pPr>
            <a:r>
              <a:t>重复主键由后端拒绝，界面显示错误。</a:t>
            </a:r>
          </a:p>
          <a:p>
            <a:pPr>
              <a:spcAft>
                <a:spcPts val="500"/>
              </a:spcAft>
              <a:defRPr sz="1600">
                <a:solidFill>
                  <a:srgbClr val="0F172A"/>
                </a:solidFill>
                <a:latin typeface="微软雅黑" panose="020B0503020204020204" charset="-122"/>
              </a:defRPr>
            </a:pPr>
            <a:r>
              <a:t>结果解释：重新加载表格后数据真实变化。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10896"/>
            <a:ext cx="2743200" cy="22860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r>
              <a:rPr sz="950" b="1">
                <a:solidFill>
                  <a:srgbClr val="6D28D9"/>
                </a:solidFill>
                <a:latin typeface="微软雅黑" panose="020B0503020204020204" charset="-122"/>
              </a:rPr>
              <a:t>张浩然</a:t>
            </a:r>
            <a:endParaRPr sz="950" b="1">
              <a:solidFill>
                <a:srgbClr val="6D28D9"/>
              </a:solidFill>
              <a:latin typeface="微软雅黑" panose="020B050302020402020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9052560" cy="50292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r>
              <a:rPr sz="2500" b="1">
                <a:solidFill>
                  <a:srgbClr val="0F172A"/>
                </a:solidFill>
                <a:latin typeface="微软雅黑" panose="020B0503020204020204" charset="-122"/>
              </a:rPr>
              <a:t>Query Result：SELECT 结果必须可见</a:t>
            </a:r>
            <a:endParaRPr sz="2500" b="1">
              <a:solidFill>
                <a:srgbClr val="0F172A"/>
              </a:solidFill>
              <a:latin typeface="微软雅黑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1109960" y="320040"/>
            <a:ext cx="502920" cy="27432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 algn="r"/>
            <a:r>
              <a:rPr sz="1000" b="1">
                <a:solidFill>
                  <a:srgbClr val="475569"/>
                </a:solidFill>
                <a:latin typeface="微软雅黑" panose="020B0503020204020204" charset="-122"/>
              </a:rPr>
              <a:t>18</a:t>
            </a:r>
            <a:endParaRPr sz="1000" b="1">
              <a:solidFill>
                <a:srgbClr val="475569"/>
              </a:solidFill>
              <a:latin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3840480" cy="201168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r>
              <a:rPr sz="850" b="0">
                <a:solidFill>
                  <a:srgbClr val="475569"/>
                </a:solidFill>
                <a:latin typeface="微软雅黑" panose="020B0503020204020204" charset="-122"/>
              </a:rPr>
              <a:t>DBMS-5 · 成员分工 · 实现与演示</a:t>
            </a:r>
            <a:endParaRPr sz="850" b="0">
              <a:solidFill>
                <a:srgbClr val="475569"/>
              </a:solidFill>
              <a:latin typeface="微软雅黑" panose="020B0503020204020204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02920" y="1097280"/>
            <a:ext cx="2011680" cy="32004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r>
              <a:rPr sz="1800" b="1">
                <a:solidFill>
                  <a:srgbClr val="6D28D9"/>
                </a:solidFill>
                <a:latin typeface="微软雅黑" panose="020B0503020204020204" charset="-122"/>
              </a:rPr>
              <a:t>张浩然</a:t>
            </a:r>
            <a:endParaRPr sz="1800" b="1">
              <a:solidFill>
                <a:srgbClr val="6D28D9"/>
              </a:solidFill>
              <a:latin typeface="微软雅黑" panose="020B0503020204020204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2423160" y="1097280"/>
            <a:ext cx="6400800" cy="32004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r>
              <a:rPr sz="1400" b="0">
                <a:solidFill>
                  <a:srgbClr val="475569"/>
                </a:solidFill>
                <a:latin typeface="微软雅黑" panose="020B0503020204020204" charset="-122"/>
              </a:rPr>
              <a:t>Qt 界面演示</a:t>
            </a:r>
            <a:endParaRPr sz="1400" b="0">
              <a:solidFill>
                <a:srgbClr val="475569"/>
              </a:solidFill>
              <a:latin typeface="微软雅黑" panose="020B0503020204020204" charset="-122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502920" y="1481328"/>
            <a:ext cx="10698480" cy="18288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594360" y="1691640"/>
            <a:ext cx="6446520" cy="43434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04_query_result_products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2169449"/>
            <a:ext cx="6446520" cy="338778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7360920" y="1920240"/>
            <a:ext cx="4160520" cy="2194560"/>
          </a:xfrm>
          <a:prstGeom prst="rect">
            <a:avLst/>
          </a:prstGeom>
          <a:noFill/>
        </p:spPr>
        <p:txBody>
          <a:bodyPr wrap="square" lIns="73152" rIns="54864">
            <a:spAutoFit/>
          </a:bodyPr>
          <a:lstStyle/>
          <a:p>
            <a:pPr>
              <a:spcAft>
                <a:spcPts val="500"/>
              </a:spcAft>
              <a:defRPr sz="1600">
                <a:solidFill>
                  <a:srgbClr val="0F172A"/>
                </a:solidFill>
                <a:latin typeface="微软雅黑" panose="020B0503020204020204" charset="-122"/>
              </a:defRPr>
            </a:pPr>
            <a:r>
              <a:t>SqlEditorPanel 执行 SELECT 后切换到结果页。</a:t>
            </a:r>
          </a:p>
          <a:p>
            <a:pPr>
              <a:spcAft>
                <a:spcPts val="500"/>
              </a:spcAft>
              <a:defRPr sz="1600">
                <a:solidFill>
                  <a:srgbClr val="0F172A"/>
                </a:solidFill>
                <a:latin typeface="微软雅黑" panose="020B0503020204020204" charset="-122"/>
              </a:defRPr>
            </a:pPr>
            <a:r>
              <a:t>ResultTablePanel 渲染 id/name/stock。</a:t>
            </a:r>
          </a:p>
          <a:p>
            <a:pPr>
              <a:spcAft>
                <a:spcPts val="500"/>
              </a:spcAft>
              <a:defRPr sz="1600">
                <a:solidFill>
                  <a:srgbClr val="0F172A"/>
                </a:solidFill>
                <a:latin typeface="微软雅黑" panose="020B0503020204020204" charset="-122"/>
              </a:defRPr>
            </a:pPr>
            <a:r>
              <a:t>结果解释：不是后台静默成功，结果表直接可核对。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10896"/>
            <a:ext cx="2743200" cy="22860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r>
              <a:rPr sz="950" b="1">
                <a:solidFill>
                  <a:srgbClr val="6D28D9"/>
                </a:solidFill>
                <a:latin typeface="微软雅黑" panose="020B0503020204020204" charset="-122"/>
              </a:rPr>
              <a:t>张浩然</a:t>
            </a:r>
            <a:endParaRPr sz="950" b="1">
              <a:solidFill>
                <a:srgbClr val="6D28D9"/>
              </a:solidFill>
              <a:latin typeface="微软雅黑" panose="020B050302020402020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9052560" cy="50292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r>
              <a:rPr sz="2500" b="1">
                <a:solidFill>
                  <a:srgbClr val="0F172A"/>
                </a:solidFill>
                <a:latin typeface="微软雅黑" panose="020B0503020204020204" charset="-122"/>
              </a:rPr>
              <a:t>Structure + Index：列和索引节点可见</a:t>
            </a:r>
            <a:endParaRPr sz="2500" b="1">
              <a:solidFill>
                <a:srgbClr val="0F172A"/>
              </a:solidFill>
              <a:latin typeface="微软雅黑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1109960" y="320040"/>
            <a:ext cx="502920" cy="27432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 algn="r"/>
            <a:r>
              <a:rPr sz="1000" b="1">
                <a:solidFill>
                  <a:srgbClr val="475569"/>
                </a:solidFill>
                <a:latin typeface="微软雅黑" panose="020B0503020204020204" charset="-122"/>
              </a:rPr>
              <a:t>19</a:t>
            </a:r>
            <a:endParaRPr sz="1000" b="1">
              <a:solidFill>
                <a:srgbClr val="475569"/>
              </a:solidFill>
              <a:latin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3840480" cy="201168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r>
              <a:rPr sz="850" b="0">
                <a:solidFill>
                  <a:srgbClr val="475569"/>
                </a:solidFill>
                <a:latin typeface="微软雅黑" panose="020B0503020204020204" charset="-122"/>
              </a:rPr>
              <a:t>DBMS-5 · 成员分工 · 实现与演示</a:t>
            </a:r>
            <a:endParaRPr sz="850" b="0">
              <a:solidFill>
                <a:srgbClr val="475569"/>
              </a:solidFill>
              <a:latin typeface="微软雅黑" panose="020B0503020204020204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02920" y="1097280"/>
            <a:ext cx="2011680" cy="32004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r>
              <a:rPr sz="1800" b="1">
                <a:solidFill>
                  <a:srgbClr val="6D28D9"/>
                </a:solidFill>
                <a:latin typeface="微软雅黑" panose="020B0503020204020204" charset="-122"/>
              </a:rPr>
              <a:t>张浩然</a:t>
            </a:r>
            <a:endParaRPr sz="1800" b="1">
              <a:solidFill>
                <a:srgbClr val="6D28D9"/>
              </a:solidFill>
              <a:latin typeface="微软雅黑" panose="020B0503020204020204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2423160" y="1097280"/>
            <a:ext cx="6400800" cy="32004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r>
              <a:rPr sz="1400" b="0">
                <a:solidFill>
                  <a:srgbClr val="475569"/>
                </a:solidFill>
                <a:latin typeface="微软雅黑" panose="020B0503020204020204" charset="-122"/>
              </a:rPr>
              <a:t>Qt 界面演示</a:t>
            </a:r>
            <a:endParaRPr sz="1400" b="0">
              <a:solidFill>
                <a:srgbClr val="475569"/>
              </a:solidFill>
              <a:latin typeface="微软雅黑" panose="020B0503020204020204" charset="-122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502920" y="1481328"/>
            <a:ext cx="10698480" cy="18288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594360" y="1691640"/>
            <a:ext cx="6446520" cy="43434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05_structure_index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2169449"/>
            <a:ext cx="6446520" cy="338778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7360920" y="1920240"/>
            <a:ext cx="4160520" cy="2194560"/>
          </a:xfrm>
          <a:prstGeom prst="rect">
            <a:avLst/>
          </a:prstGeom>
          <a:noFill/>
        </p:spPr>
        <p:txBody>
          <a:bodyPr wrap="square" lIns="73152" rIns="54864">
            <a:spAutoFit/>
          </a:bodyPr>
          <a:lstStyle/>
          <a:p>
            <a:pPr>
              <a:spcAft>
                <a:spcPts val="500"/>
              </a:spcAft>
              <a:defRPr sz="1600">
                <a:solidFill>
                  <a:srgbClr val="0F172A"/>
                </a:solidFill>
                <a:latin typeface="微软雅黑" panose="020B0503020204020204" charset="-122"/>
              </a:defRPr>
            </a:pPr>
            <a:r>
              <a:t>ALTER TABLE ADD COLUMN 修改表结构。</a:t>
            </a:r>
          </a:p>
          <a:p>
            <a:pPr>
              <a:spcAft>
                <a:spcPts val="500"/>
              </a:spcAft>
              <a:defRPr sz="1600">
                <a:solidFill>
                  <a:srgbClr val="0F172A"/>
                </a:solidFill>
                <a:latin typeface="微软雅黑" panose="020B0503020204020204" charset="-122"/>
              </a:defRPr>
            </a:pPr>
            <a:r>
              <a:t>CREATE INDEX 创建 idx_products_name。</a:t>
            </a:r>
          </a:p>
          <a:p>
            <a:pPr>
              <a:spcAft>
                <a:spcPts val="500"/>
              </a:spcAft>
              <a:defRPr sz="1600">
                <a:solidFill>
                  <a:srgbClr val="0F172A"/>
                </a:solidFill>
                <a:latin typeface="微软雅黑" panose="020B0503020204020204" charset="-122"/>
              </a:defRPr>
            </a:pPr>
            <a:r>
              <a:t>结果解释：Structure 刷新，Indexes 节点显示索引。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10896"/>
            <a:ext cx="2743200" cy="22860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r>
              <a:rPr sz="950" b="1">
                <a:solidFill>
                  <a:srgbClr val="DC2626"/>
                </a:solidFill>
                <a:latin typeface="微软雅黑" panose="020B0503020204020204" charset="-122"/>
              </a:rPr>
              <a:t>谷友瑄</a:t>
            </a:r>
            <a:endParaRPr sz="950" b="1">
              <a:solidFill>
                <a:srgbClr val="DC2626"/>
              </a:solidFill>
              <a:latin typeface="微软雅黑" panose="020B050302020402020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9052560" cy="50292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r>
              <a:rPr sz="2500" b="1">
                <a:solidFill>
                  <a:srgbClr val="0F172A"/>
                </a:solidFill>
                <a:latin typeface="微软雅黑" panose="020B0503020204020204" charset="-122"/>
              </a:rPr>
              <a:t>权限安全：用户、授权、执行前校验</a:t>
            </a:r>
            <a:endParaRPr sz="2500" b="1">
              <a:solidFill>
                <a:srgbClr val="0F172A"/>
              </a:solidFill>
              <a:latin typeface="微软雅黑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1109960" y="320040"/>
            <a:ext cx="502920" cy="27432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 algn="r"/>
            <a:r>
              <a:rPr sz="1000" b="1">
                <a:solidFill>
                  <a:srgbClr val="475569"/>
                </a:solidFill>
                <a:latin typeface="微软雅黑" panose="020B0503020204020204" charset="-122"/>
              </a:rPr>
              <a:t>20</a:t>
            </a:r>
            <a:endParaRPr sz="1000" b="1">
              <a:solidFill>
                <a:srgbClr val="475569"/>
              </a:solidFill>
              <a:latin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3840480" cy="201168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r>
              <a:rPr sz="850" b="0">
                <a:solidFill>
                  <a:srgbClr val="475569"/>
                </a:solidFill>
                <a:latin typeface="微软雅黑" panose="020B0503020204020204" charset="-122"/>
              </a:rPr>
              <a:t>DBMS-5 · 成员分工 · 实现与演示</a:t>
            </a:r>
            <a:endParaRPr sz="850" b="0">
              <a:solidFill>
                <a:srgbClr val="475569"/>
              </a:solidFill>
              <a:latin typeface="微软雅黑" panose="020B0503020204020204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02920" y="1097280"/>
            <a:ext cx="2011680" cy="32004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r>
              <a:rPr sz="1800" b="1">
                <a:solidFill>
                  <a:srgbClr val="DC2626"/>
                </a:solidFill>
                <a:latin typeface="微软雅黑" panose="020B0503020204020204" charset="-122"/>
              </a:rPr>
              <a:t>谷友瑄</a:t>
            </a:r>
            <a:endParaRPr sz="1800" b="1">
              <a:solidFill>
                <a:srgbClr val="DC2626"/>
              </a:solidFill>
              <a:latin typeface="微软雅黑" panose="020B0503020204020204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2423160" y="1097280"/>
            <a:ext cx="6400800" cy="32004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r>
              <a:rPr sz="1400" b="0">
                <a:solidFill>
                  <a:srgbClr val="475569"/>
                </a:solidFill>
                <a:latin typeface="微软雅黑" panose="020B0503020204020204" charset="-122"/>
              </a:rPr>
              <a:t>权限安全 / 测试 / 文档</a:t>
            </a:r>
            <a:endParaRPr sz="1400" b="0">
              <a:solidFill>
                <a:srgbClr val="475569"/>
              </a:solidFill>
              <a:latin typeface="微软雅黑" panose="020B0503020204020204" charset="-122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502920" y="1481328"/>
            <a:ext cx="10698480" cy="18288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31520" y="1828800"/>
            <a:ext cx="2926080" cy="1051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31520" y="1828800"/>
            <a:ext cx="54864" cy="105156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96112" y="1956816"/>
            <a:ext cx="2651760" cy="22860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r>
              <a:rPr sz="1300" b="1">
                <a:solidFill>
                  <a:srgbClr val="DC2626"/>
                </a:solidFill>
                <a:latin typeface="微软雅黑" panose="020B0503020204020204" charset="-122"/>
              </a:rPr>
              <a:t>UserManager</a:t>
            </a:r>
            <a:endParaRPr sz="1300" b="1">
              <a:solidFill>
                <a:srgbClr val="DC2626"/>
              </a:solidFill>
              <a:latin typeface="微软雅黑" panose="020B0503020204020204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896112" y="2286000"/>
            <a:ext cx="2651760" cy="484631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r>
              <a:rPr sz="1150" b="0">
                <a:solidFill>
                  <a:srgbClr val="0F172A"/>
                </a:solidFill>
                <a:latin typeface="微软雅黑" panose="020B0503020204020204" charset="-122"/>
              </a:rPr>
              <a:t>保存用户、密码哈希、权限记录；root 拥有全局权限。</a:t>
            </a:r>
            <a:endParaRPr sz="1150" b="0">
              <a:solidFill>
                <a:srgbClr val="0F172A"/>
              </a:solidFill>
              <a:latin typeface="微软雅黑" panose="020B0503020204020204" charset="-122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4069080" y="1828800"/>
            <a:ext cx="2926080" cy="1051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069080" y="1828800"/>
            <a:ext cx="54864" cy="105156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233672" y="1956816"/>
            <a:ext cx="2651760" cy="22860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r>
              <a:rPr sz="1300" b="1">
                <a:solidFill>
                  <a:srgbClr val="2563EB"/>
                </a:solidFill>
                <a:latin typeface="微软雅黑" panose="020B0503020204020204" charset="-122"/>
              </a:rPr>
              <a:t>授权模型</a:t>
            </a:r>
            <a:endParaRPr sz="1300" b="1">
              <a:solidFill>
                <a:srgbClr val="2563EB"/>
              </a:solidFill>
              <a:latin typeface="微软雅黑" panose="020B0503020204020204" charset="-122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4233672" y="2286000"/>
            <a:ext cx="2651760" cy="484631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r>
              <a:rPr sz="1150" b="0">
                <a:solidFill>
                  <a:srgbClr val="0F172A"/>
                </a:solidFill>
                <a:latin typeface="微软雅黑" panose="020B0503020204020204" charset="-122"/>
              </a:rPr>
              <a:t>支持 *.*、db.*、db.table 三级范围，以及 SELECT / INSERT / UPDATE / DELETE / ALL。</a:t>
            </a:r>
            <a:endParaRPr sz="1150" b="0">
              <a:solidFill>
                <a:srgbClr val="0F172A"/>
              </a:solidFill>
              <a:latin typeface="微软雅黑" panose="020B0503020204020204" charset="-122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7406640" y="1828800"/>
            <a:ext cx="2926080" cy="1051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406640" y="1828800"/>
            <a:ext cx="54864" cy="105156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571231" y="1956816"/>
            <a:ext cx="2651760" cy="22860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r>
              <a:rPr sz="1300" b="1">
                <a:solidFill>
                  <a:srgbClr val="059669"/>
                </a:solidFill>
                <a:latin typeface="微软雅黑" panose="020B0503020204020204" charset="-122"/>
              </a:rPr>
              <a:t>执行校验</a:t>
            </a:r>
            <a:endParaRPr sz="1300" b="1">
              <a:solidFill>
                <a:srgbClr val="059669"/>
              </a:solidFill>
              <a:latin typeface="微软雅黑" panose="020B0503020204020204" charset="-122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7571231" y="2286000"/>
            <a:ext cx="2651760" cy="484631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r>
              <a:rPr sz="1150" b="0">
                <a:solidFill>
                  <a:srgbClr val="0F172A"/>
                </a:solidFill>
                <a:latin typeface="微软雅黑" panose="020B0503020204020204" charset="-122"/>
              </a:rPr>
              <a:t>Executor::checkPermission 在 DDL/DML/SELECT 前统一判断，不依赖 UI 隐藏按钮。</a:t>
            </a:r>
            <a:endParaRPr sz="1150" b="0">
              <a:solidFill>
                <a:srgbClr val="0F172A"/>
              </a:solidFill>
              <a:latin typeface="微软雅黑" panose="020B0503020204020204" charset="-122"/>
            </a:endParaRPr>
          </a:p>
        </p:txBody>
      </p:sp>
      <p:sp>
        <p:nvSpPr>
          <p:cNvPr id="22" name="Rounded Rectangle 21"/>
          <p:cNvSpPr/>
          <p:nvPr/>
        </p:nvSpPr>
        <p:spPr>
          <a:xfrm>
            <a:off x="822960" y="3657600"/>
            <a:ext cx="5486400" cy="1828800"/>
          </a:xfrm>
          <a:prstGeom prst="roundRect">
            <a:avLst>
              <a:gd name="adj" fmla="val 4000"/>
            </a:avLst>
          </a:prstGeom>
          <a:solidFill>
            <a:srgbClr val="0F172A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87552" y="3785615"/>
            <a:ext cx="5212080" cy="1609344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r>
              <a:rPr sz="1250" b="0">
                <a:solidFill>
                  <a:srgbClr val="E2E8F0"/>
                </a:solidFill>
                <a:latin typeface="Consolas" panose="020B0609020204030204"/>
              </a:rPr>
              <a:t>CREATE USER 'cli_reader' IDENTIFIED BY 'reader123';</a:t>
            </a:r>
            <a:br>
              <a:rPr sz="1250" b="0">
                <a:solidFill>
                  <a:srgbClr val="E2E8F0"/>
                </a:solidFill>
                <a:latin typeface="Consolas" panose="020B0609020204030204"/>
              </a:rPr>
            </a:br>
            <a:r>
              <a:rPr sz="1250" b="0">
                <a:solidFill>
                  <a:srgbClr val="E2E8F0"/>
                </a:solidFill>
                <a:latin typeface="Consolas" panose="020B0609020204030204"/>
              </a:rPr>
              <a:t>GRANT SELECT ON cli_demo.users TO 'cli_reader';</a:t>
            </a:r>
            <a:br>
              <a:rPr sz="1250" b="0">
                <a:solidFill>
                  <a:srgbClr val="E2E8F0"/>
                </a:solidFill>
                <a:latin typeface="Consolas" panose="020B0609020204030204"/>
              </a:rPr>
            </a:br>
            <a:r>
              <a:rPr sz="1250" b="0">
                <a:solidFill>
                  <a:srgbClr val="E2E8F0"/>
                </a:solidFill>
                <a:latin typeface="Consolas" panose="020B0609020204030204"/>
              </a:rPr>
              <a:t>CONNECT 'cli_reader' IDENTIFIED BY 'reader123';</a:t>
            </a:r>
            <a:br>
              <a:rPr sz="1250" b="0">
                <a:solidFill>
                  <a:srgbClr val="E2E8F0"/>
                </a:solidFill>
                <a:latin typeface="Consolas" panose="020B0609020204030204"/>
              </a:rPr>
            </a:br>
            <a:r>
              <a:rPr sz="1250" b="0">
                <a:solidFill>
                  <a:srgbClr val="E2E8F0"/>
                </a:solidFill>
                <a:latin typeface="Consolas" panose="020B0609020204030204"/>
              </a:rPr>
              <a:t>SELECT name, region FROM users;</a:t>
            </a:r>
            <a:br>
              <a:rPr sz="1250" b="0">
                <a:solidFill>
                  <a:srgbClr val="E2E8F0"/>
                </a:solidFill>
                <a:latin typeface="Consolas" panose="020B0609020204030204"/>
              </a:rPr>
            </a:br>
            <a:r>
              <a:rPr sz="1250" b="0">
                <a:solidFill>
                  <a:srgbClr val="E2E8F0"/>
                </a:solidFill>
                <a:latin typeface="Consolas" panose="020B0609020204030204"/>
              </a:rPr>
              <a:t>INSERT INTO users (...) VALUES (...);</a:t>
            </a:r>
            <a:endParaRPr sz="1250" b="0">
              <a:solidFill>
                <a:srgbClr val="E2E8F0"/>
              </a:solidFill>
              <a:latin typeface="Consolas" panose="020B0609020204030204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6629400" y="3794760"/>
            <a:ext cx="4389120" cy="1600200"/>
          </a:xfrm>
          <a:prstGeom prst="rect">
            <a:avLst/>
          </a:prstGeom>
          <a:noFill/>
        </p:spPr>
        <p:txBody>
          <a:bodyPr wrap="square" lIns="73152" rIns="54864">
            <a:spAutoFit/>
          </a:bodyPr>
          <a:lstStyle/>
          <a:p>
            <a:pPr>
              <a:spcAft>
                <a:spcPts val="500"/>
              </a:spcAft>
              <a:defRPr sz="1600">
                <a:solidFill>
                  <a:srgbClr val="0F172A"/>
                </a:solidFill>
                <a:latin typeface="微软雅黑" panose="020B0503020204020204" charset="-122"/>
              </a:defRPr>
            </a:pPr>
            <a:r>
              <a:t>SELECT 成功：说明授权写入并生效。</a:t>
            </a:r>
          </a:p>
          <a:p>
            <a:pPr>
              <a:spcAft>
                <a:spcPts val="500"/>
              </a:spcAft>
              <a:defRPr sz="1600">
                <a:solidFill>
                  <a:srgbClr val="0F172A"/>
                </a:solidFill>
                <a:latin typeface="微软雅黑" panose="020B0503020204020204" charset="-122"/>
              </a:defRPr>
            </a:pPr>
            <a:r>
              <a:t>INSERT 失败：说明普通用户没有写权限。</a:t>
            </a:r>
          </a:p>
          <a:p>
            <a:pPr>
              <a:spcAft>
                <a:spcPts val="500"/>
              </a:spcAft>
              <a:defRPr sz="1600">
                <a:solidFill>
                  <a:srgbClr val="0F172A"/>
                </a:solidFill>
                <a:latin typeface="微软雅黑" panose="020B0503020204020204" charset="-122"/>
              </a:defRPr>
            </a:pPr>
            <a:r>
              <a:t>错误可见：CLI 输出错误，Qt Status 页展示 PERMISSION_DENIED。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10896"/>
            <a:ext cx="2743200" cy="22860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r>
              <a:rPr sz="950" b="1">
                <a:solidFill>
                  <a:srgbClr val="DC2626"/>
                </a:solidFill>
                <a:latin typeface="微软雅黑" panose="020B0503020204020204" charset="-122"/>
              </a:rPr>
              <a:t>谷友瑄</a:t>
            </a:r>
            <a:endParaRPr sz="950" b="1">
              <a:solidFill>
                <a:srgbClr val="DC2626"/>
              </a:solidFill>
              <a:latin typeface="微软雅黑" panose="020B050302020402020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9052560" cy="50292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r>
              <a:rPr sz="2500" b="1">
                <a:solidFill>
                  <a:srgbClr val="0F172A"/>
                </a:solidFill>
                <a:latin typeface="微软雅黑" panose="020B0503020204020204" charset="-122"/>
              </a:rPr>
              <a:t>权限界面：创建用户并授权 SELECT</a:t>
            </a:r>
            <a:endParaRPr sz="2500" b="1">
              <a:solidFill>
                <a:srgbClr val="0F172A"/>
              </a:solidFill>
              <a:latin typeface="微软雅黑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1109960" y="320040"/>
            <a:ext cx="502920" cy="27432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 algn="r"/>
            <a:r>
              <a:rPr sz="1000" b="1">
                <a:solidFill>
                  <a:srgbClr val="475569"/>
                </a:solidFill>
                <a:latin typeface="微软雅黑" panose="020B0503020204020204" charset="-122"/>
              </a:rPr>
              <a:t>21</a:t>
            </a:r>
            <a:endParaRPr sz="1000" b="1">
              <a:solidFill>
                <a:srgbClr val="475569"/>
              </a:solidFill>
              <a:latin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3840480" cy="201168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r>
              <a:rPr sz="850" b="0">
                <a:solidFill>
                  <a:srgbClr val="475569"/>
                </a:solidFill>
                <a:latin typeface="微软雅黑" panose="020B0503020204020204" charset="-122"/>
              </a:rPr>
              <a:t>DBMS-5 · 成员分工 · 实现与演示</a:t>
            </a:r>
            <a:endParaRPr sz="850" b="0">
              <a:solidFill>
                <a:srgbClr val="475569"/>
              </a:solidFill>
              <a:latin typeface="微软雅黑" panose="020B0503020204020204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02920" y="1097280"/>
            <a:ext cx="2011680" cy="32004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r>
              <a:rPr sz="1800" b="1">
                <a:solidFill>
                  <a:srgbClr val="DC2626"/>
                </a:solidFill>
                <a:latin typeface="微软雅黑" panose="020B0503020204020204" charset="-122"/>
              </a:rPr>
              <a:t>谷友瑄</a:t>
            </a:r>
            <a:endParaRPr sz="1800" b="1">
              <a:solidFill>
                <a:srgbClr val="DC2626"/>
              </a:solidFill>
              <a:latin typeface="微软雅黑" panose="020B0503020204020204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2423160" y="1097280"/>
            <a:ext cx="6400800" cy="32004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r>
              <a:rPr sz="1400" b="0">
                <a:solidFill>
                  <a:srgbClr val="475569"/>
                </a:solidFill>
                <a:latin typeface="微软雅黑" panose="020B0503020204020204" charset="-122"/>
              </a:rPr>
              <a:t>Qt Users / Grant</a:t>
            </a:r>
            <a:endParaRPr sz="1400" b="0">
              <a:solidFill>
                <a:srgbClr val="475569"/>
              </a:solidFill>
              <a:latin typeface="微软雅黑" panose="020B0503020204020204" charset="-122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502920" y="1481328"/>
            <a:ext cx="10698480" cy="18288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594360" y="1691640"/>
            <a:ext cx="6400800" cy="43434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08_privileges_tre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2181463"/>
            <a:ext cx="6400800" cy="3363753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7315200" y="1920240"/>
            <a:ext cx="4206240" cy="2377440"/>
          </a:xfrm>
          <a:prstGeom prst="rect">
            <a:avLst/>
          </a:prstGeom>
          <a:noFill/>
        </p:spPr>
        <p:txBody>
          <a:bodyPr wrap="square" lIns="73152" rIns="54864">
            <a:spAutoFit/>
          </a:bodyPr>
          <a:lstStyle/>
          <a:p>
            <a:pPr>
              <a:spcAft>
                <a:spcPts val="500"/>
              </a:spcAft>
              <a:defRPr sz="1600">
                <a:solidFill>
                  <a:srgbClr val="0F172A"/>
                </a:solidFill>
                <a:latin typeface="微软雅黑" panose="020B0503020204020204" charset="-122"/>
              </a:defRPr>
            </a:pPr>
            <a:r>
              <a:t>Users 页创建 demo_reader。</a:t>
            </a:r>
          </a:p>
          <a:p>
            <a:pPr>
              <a:spcAft>
                <a:spcPts val="500"/>
              </a:spcAft>
              <a:defRPr sz="1600">
                <a:solidFill>
                  <a:srgbClr val="0F172A"/>
                </a:solidFill>
                <a:latin typeface="微软雅黑" panose="020B0503020204020204" charset="-122"/>
              </a:defRPr>
            </a:pPr>
            <a:r>
              <a:t>目标对象选择 qt_demo_video.products。</a:t>
            </a:r>
          </a:p>
          <a:p>
            <a:pPr>
              <a:spcAft>
                <a:spcPts val="500"/>
              </a:spcAft>
              <a:defRPr sz="1600">
                <a:solidFill>
                  <a:srgbClr val="0F172A"/>
                </a:solidFill>
                <a:latin typeface="微软雅黑" panose="020B0503020204020204" charset="-122"/>
              </a:defRPr>
            </a:pPr>
            <a:r>
              <a:t>仅授予 SELECT，不授予 INSERT。</a:t>
            </a:r>
          </a:p>
          <a:p>
            <a:pPr>
              <a:spcAft>
                <a:spcPts val="500"/>
              </a:spcAft>
              <a:defRPr sz="1600">
                <a:solidFill>
                  <a:srgbClr val="0F172A"/>
                </a:solidFill>
                <a:latin typeface="微软雅黑" panose="020B0503020204020204" charset="-122"/>
              </a:defRPr>
            </a:pPr>
            <a:r>
              <a:t>结果解释：普通用户切换后能查询，但写入会失败。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10896"/>
            <a:ext cx="2743200" cy="22860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r>
              <a:rPr sz="950" b="1">
                <a:solidFill>
                  <a:srgbClr val="DC2626"/>
                </a:solidFill>
                <a:latin typeface="微软雅黑" panose="020B0503020204020204" charset="-122"/>
              </a:rPr>
              <a:t>谷友瑄</a:t>
            </a:r>
            <a:endParaRPr sz="950" b="1">
              <a:solidFill>
                <a:srgbClr val="DC2626"/>
              </a:solidFill>
              <a:latin typeface="微软雅黑" panose="020B050302020402020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9052560" cy="50292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r>
              <a:rPr sz="2500" b="1">
                <a:solidFill>
                  <a:srgbClr val="0F172A"/>
                </a:solidFill>
                <a:latin typeface="微软雅黑" panose="020B0503020204020204" charset="-122"/>
              </a:rPr>
              <a:t>越权失败：Status 页展示后端拒绝原因</a:t>
            </a:r>
            <a:endParaRPr sz="2500" b="1">
              <a:solidFill>
                <a:srgbClr val="0F172A"/>
              </a:solidFill>
              <a:latin typeface="微软雅黑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1109960" y="320040"/>
            <a:ext cx="502920" cy="27432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 algn="r"/>
            <a:r>
              <a:rPr sz="1000" b="1">
                <a:solidFill>
                  <a:srgbClr val="475569"/>
                </a:solidFill>
                <a:latin typeface="微软雅黑" panose="020B0503020204020204" charset="-122"/>
              </a:rPr>
              <a:t>22</a:t>
            </a:r>
            <a:endParaRPr sz="1000" b="1">
              <a:solidFill>
                <a:srgbClr val="475569"/>
              </a:solidFill>
              <a:latin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3840480" cy="201168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r>
              <a:rPr sz="850" b="0">
                <a:solidFill>
                  <a:srgbClr val="475569"/>
                </a:solidFill>
                <a:latin typeface="微软雅黑" panose="020B0503020204020204" charset="-122"/>
              </a:rPr>
              <a:t>DBMS-5 · 成员分工 · 实现与演示</a:t>
            </a:r>
            <a:endParaRPr sz="850" b="0">
              <a:solidFill>
                <a:srgbClr val="475569"/>
              </a:solidFill>
              <a:latin typeface="微软雅黑" panose="020B0503020204020204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02920" y="1097280"/>
            <a:ext cx="2011680" cy="32004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r>
              <a:rPr sz="1800" b="1">
                <a:solidFill>
                  <a:srgbClr val="DC2626"/>
                </a:solidFill>
                <a:latin typeface="微软雅黑" panose="020B0503020204020204" charset="-122"/>
              </a:rPr>
              <a:t>谷友瑄</a:t>
            </a:r>
            <a:endParaRPr sz="1800" b="1">
              <a:solidFill>
                <a:srgbClr val="DC2626"/>
              </a:solidFill>
              <a:latin typeface="微软雅黑" panose="020B0503020204020204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2423160" y="1097280"/>
            <a:ext cx="6400800" cy="32004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r>
              <a:rPr sz="1400" b="0">
                <a:solidFill>
                  <a:srgbClr val="475569"/>
                </a:solidFill>
                <a:latin typeface="微软雅黑" panose="020B0503020204020204" charset="-122"/>
              </a:rPr>
              <a:t>Permission Denied / Tests</a:t>
            </a:r>
            <a:endParaRPr sz="1400" b="0">
              <a:solidFill>
                <a:srgbClr val="475569"/>
              </a:solidFill>
              <a:latin typeface="微软雅黑" panose="020B0503020204020204" charset="-122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502920" y="1481328"/>
            <a:ext cx="10698480" cy="18288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594360" y="1691640"/>
            <a:ext cx="6400800" cy="43434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10_permission_status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2181463"/>
            <a:ext cx="6400800" cy="3363753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7315200" y="1874519"/>
            <a:ext cx="4251960" cy="2651760"/>
          </a:xfrm>
          <a:prstGeom prst="rect">
            <a:avLst/>
          </a:prstGeom>
          <a:noFill/>
        </p:spPr>
        <p:txBody>
          <a:bodyPr wrap="square" lIns="73152" rIns="54864">
            <a:spAutoFit/>
          </a:bodyPr>
          <a:lstStyle/>
          <a:p>
            <a:pPr>
              <a:spcAft>
                <a:spcPts val="500"/>
              </a:spcAft>
              <a:defRPr sz="1600">
                <a:solidFill>
                  <a:srgbClr val="0F172A"/>
                </a:solidFill>
                <a:latin typeface="微软雅黑" panose="020B0503020204020204" charset="-122"/>
              </a:defRPr>
            </a:pPr>
            <a:r>
              <a:t>普通用户执行未授权 INSERT。</a:t>
            </a:r>
          </a:p>
          <a:p>
            <a:pPr>
              <a:spcAft>
                <a:spcPts val="500"/>
              </a:spcAft>
              <a:defRPr sz="1600">
                <a:solidFill>
                  <a:srgbClr val="0F172A"/>
                </a:solidFill>
                <a:latin typeface="微软雅黑" panose="020B0503020204020204" charset="-122"/>
              </a:defRPr>
            </a:pPr>
            <a:r>
              <a:t>Executor::checkPermission 返回 PERMISSION_DENIED。</a:t>
            </a:r>
          </a:p>
          <a:p>
            <a:pPr>
              <a:spcAft>
                <a:spcPts val="500"/>
              </a:spcAft>
              <a:defRPr sz="1600">
                <a:solidFill>
                  <a:srgbClr val="0F172A"/>
                </a:solidFill>
                <a:latin typeface="微软雅黑" panose="020B0503020204020204" charset="-122"/>
              </a:defRPr>
            </a:pPr>
            <a:r>
              <a:t>StatusMetaPanel 展示错误信息。</a:t>
            </a:r>
          </a:p>
          <a:p>
            <a:pPr>
              <a:spcAft>
                <a:spcPts val="500"/>
              </a:spcAft>
              <a:defRPr sz="1600">
                <a:solidFill>
                  <a:srgbClr val="0F172A"/>
                </a:solidFill>
                <a:latin typeface="微软雅黑" panose="020B0503020204020204" charset="-122"/>
              </a:defRPr>
            </a:pPr>
            <a:r>
              <a:t>测试材料：test_security 覆盖 GRANT、REVOKE、越权拒绝和事务回滚。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10896"/>
            <a:ext cx="2743200" cy="22860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r>
              <a:rPr sz="950" b="1">
                <a:solidFill>
                  <a:srgbClr val="2563EB"/>
                </a:solidFill>
                <a:latin typeface="微软雅黑" panose="020B0503020204020204" charset="-122"/>
              </a:rPr>
              <a:t>SQL COVERAGE</a:t>
            </a:r>
            <a:endParaRPr sz="950" b="1">
              <a:solidFill>
                <a:srgbClr val="2563EB"/>
              </a:solidFill>
              <a:latin typeface="微软雅黑" panose="020B050302020402020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9052560" cy="50292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r>
              <a:rPr sz="2500" b="1">
                <a:solidFill>
                  <a:srgbClr val="0F172A"/>
                </a:solidFill>
                <a:latin typeface="微软雅黑" panose="020B0503020204020204" charset="-122"/>
              </a:rPr>
              <a:t>CLI DDL：建库建表与结构证明</a:t>
            </a:r>
            <a:endParaRPr sz="2500" b="1">
              <a:solidFill>
                <a:srgbClr val="0F172A"/>
              </a:solidFill>
              <a:latin typeface="微软雅黑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1109960" y="320040"/>
            <a:ext cx="502920" cy="27432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 algn="r"/>
            <a:r>
              <a:rPr sz="1000" b="1">
                <a:solidFill>
                  <a:srgbClr val="475569"/>
                </a:solidFill>
                <a:latin typeface="微软雅黑" panose="020B0503020204020204" charset="-122"/>
              </a:rPr>
              <a:t>23</a:t>
            </a:r>
            <a:endParaRPr sz="1000" b="1">
              <a:solidFill>
                <a:srgbClr val="475569"/>
              </a:solidFill>
              <a:latin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3840480" cy="201168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r>
              <a:rPr sz="850" b="0">
                <a:solidFill>
                  <a:srgbClr val="475569"/>
                </a:solidFill>
                <a:latin typeface="微软雅黑" panose="020B0503020204020204" charset="-122"/>
              </a:rPr>
              <a:t>DBMS-5 · 成员分工 · 实现与演示</a:t>
            </a:r>
            <a:endParaRPr sz="850" b="0">
              <a:solidFill>
                <a:srgbClr val="475569"/>
              </a:solidFill>
              <a:latin typeface="微软雅黑" panose="020B0503020204020204" charset="-122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594360" y="1417320"/>
            <a:ext cx="6720840" cy="452628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01_cli_ddl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1776222"/>
            <a:ext cx="6720840" cy="3808476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635240" y="1783080"/>
            <a:ext cx="3931920" cy="2331720"/>
          </a:xfrm>
          <a:prstGeom prst="rect">
            <a:avLst/>
          </a:prstGeom>
          <a:noFill/>
        </p:spPr>
        <p:txBody>
          <a:bodyPr wrap="square" lIns="73152" rIns="54864">
            <a:spAutoFit/>
          </a:bodyPr>
          <a:lstStyle/>
          <a:p>
            <a:pPr>
              <a:spcAft>
                <a:spcPts val="500"/>
              </a:spcAft>
              <a:defRPr sz="1600">
                <a:solidFill>
                  <a:srgbClr val="0F172A"/>
                </a:solidFill>
                <a:latin typeface="微软雅黑" panose="020B0503020204020204" charset="-122"/>
              </a:defRPr>
            </a:pPr>
            <a:r>
              <a:t>CREATE DATABASE / USE：当前库切到 cli_demo。</a:t>
            </a:r>
          </a:p>
          <a:p>
            <a:pPr>
              <a:spcAft>
                <a:spcPts val="500"/>
              </a:spcAft>
              <a:defRPr sz="1600">
                <a:solidFill>
                  <a:srgbClr val="0F172A"/>
                </a:solidFill>
                <a:latin typeface="微软雅黑" panose="020B0503020204020204" charset="-122"/>
              </a:defRPr>
            </a:pPr>
            <a:r>
              <a:t>CREATE TABLE users / orders：写入结构定义。</a:t>
            </a:r>
          </a:p>
          <a:p>
            <a:pPr>
              <a:spcAft>
                <a:spcPts val="500"/>
              </a:spcAft>
              <a:defRPr sz="1600">
                <a:solidFill>
                  <a:srgbClr val="0F172A"/>
                </a:solidFill>
                <a:latin typeface="微软雅黑" panose="020B0503020204020204" charset="-122"/>
              </a:defRPr>
            </a:pPr>
            <a:r>
              <a:t>SHOW TABLES / DESCRIBE：显示表名、主键、自增、唯一、默认值。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635240" y="4800600"/>
            <a:ext cx="3886200" cy="7315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635240" y="4800600"/>
            <a:ext cx="54864" cy="7315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99831" y="4928616"/>
            <a:ext cx="3611880" cy="22860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r>
              <a:rPr sz="1300" b="1">
                <a:solidFill>
                  <a:srgbClr val="2563EB"/>
                </a:solidFill>
                <a:latin typeface="微软雅黑" panose="020B0503020204020204" charset="-122"/>
              </a:rPr>
              <a:t>展示方式</a:t>
            </a:r>
            <a:endParaRPr sz="1300" b="1">
              <a:solidFill>
                <a:srgbClr val="2563EB"/>
              </a:solidFill>
              <a:latin typeface="微软雅黑" panose="020B0503020204020204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7799831" y="5257800"/>
            <a:ext cx="3611880" cy="164592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r>
              <a:rPr sz="1100" b="0">
                <a:solidFill>
                  <a:srgbClr val="0F172A"/>
                </a:solidFill>
                <a:latin typeface="微软雅黑" panose="020B0503020204020204" charset="-122"/>
              </a:rPr>
              <a:t>先读 SQL，再看结果表或错误；每条语句都对应一个可观察结果。</a:t>
            </a:r>
            <a:endParaRPr sz="1100" b="0">
              <a:solidFill>
                <a:srgbClr val="0F172A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10896"/>
            <a:ext cx="2743200" cy="22860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r>
              <a:rPr sz="950" b="1">
                <a:solidFill>
                  <a:srgbClr val="059669"/>
                </a:solidFill>
                <a:latin typeface="微软雅黑" panose="020B0503020204020204" charset="-122"/>
              </a:rPr>
              <a:t>SQL COVERAGE</a:t>
            </a:r>
            <a:endParaRPr sz="950" b="1">
              <a:solidFill>
                <a:srgbClr val="059669"/>
              </a:solidFill>
              <a:latin typeface="微软雅黑" panose="020B050302020402020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9052560" cy="50292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r>
              <a:rPr sz="2500" b="1">
                <a:solidFill>
                  <a:srgbClr val="0F172A"/>
                </a:solidFill>
                <a:latin typeface="微软雅黑" panose="020B0503020204020204" charset="-122"/>
              </a:rPr>
              <a:t>CLI DML：写入、过滤、排序、限制</a:t>
            </a:r>
            <a:endParaRPr sz="2500" b="1">
              <a:solidFill>
                <a:srgbClr val="0F172A"/>
              </a:solidFill>
              <a:latin typeface="微软雅黑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1109960" y="320040"/>
            <a:ext cx="502920" cy="27432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 algn="r"/>
            <a:r>
              <a:rPr sz="1000" b="1">
                <a:solidFill>
                  <a:srgbClr val="475569"/>
                </a:solidFill>
                <a:latin typeface="微软雅黑" panose="020B0503020204020204" charset="-122"/>
              </a:rPr>
              <a:t>24</a:t>
            </a:r>
            <a:endParaRPr sz="1000" b="1">
              <a:solidFill>
                <a:srgbClr val="475569"/>
              </a:solidFill>
              <a:latin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3840480" cy="201168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r>
              <a:rPr sz="850" b="0">
                <a:solidFill>
                  <a:srgbClr val="475569"/>
                </a:solidFill>
                <a:latin typeface="微软雅黑" panose="020B0503020204020204" charset="-122"/>
              </a:rPr>
              <a:t>DBMS-5 · 成员分工 · 实现与演示</a:t>
            </a:r>
            <a:endParaRPr sz="850" b="0">
              <a:solidFill>
                <a:srgbClr val="475569"/>
              </a:solidFill>
              <a:latin typeface="微软雅黑" panose="020B0503020204020204" charset="-122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594360" y="1417320"/>
            <a:ext cx="6720840" cy="452628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02_cli_dml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1776222"/>
            <a:ext cx="6720840" cy="3808476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635240" y="1783080"/>
            <a:ext cx="3931920" cy="2331720"/>
          </a:xfrm>
          <a:prstGeom prst="rect">
            <a:avLst/>
          </a:prstGeom>
          <a:noFill/>
        </p:spPr>
        <p:txBody>
          <a:bodyPr wrap="square" lIns="73152" rIns="54864">
            <a:spAutoFit/>
          </a:bodyPr>
          <a:lstStyle/>
          <a:p>
            <a:pPr>
              <a:spcAft>
                <a:spcPts val="500"/>
              </a:spcAft>
              <a:defRPr sz="1600">
                <a:solidFill>
                  <a:srgbClr val="0F172A"/>
                </a:solidFill>
                <a:latin typeface="微软雅黑" panose="020B0503020204020204" charset="-122"/>
              </a:defRPr>
            </a:pPr>
            <a:r>
              <a:t>INSERT Alice / Bob / Cindy：每行 affectedRows=1。</a:t>
            </a:r>
          </a:p>
          <a:p>
            <a:pPr>
              <a:spcAft>
                <a:spcPts val="500"/>
              </a:spcAft>
              <a:defRPr sz="1600">
                <a:solidFill>
                  <a:srgbClr val="0F172A"/>
                </a:solidFill>
                <a:latin typeface="微软雅黑" panose="020B0503020204020204" charset="-122"/>
              </a:defRPr>
            </a:pPr>
            <a:r>
              <a:t>SELECT 全量：三条用户记录可见。</a:t>
            </a:r>
          </a:p>
          <a:p>
            <a:pPr>
              <a:spcAft>
                <a:spcPts val="500"/>
              </a:spcAft>
              <a:defRPr sz="1600">
                <a:solidFill>
                  <a:srgbClr val="0F172A"/>
                </a:solidFill>
                <a:latin typeface="微软雅黑" panose="020B0503020204020204" charset="-122"/>
              </a:defRPr>
            </a:pPr>
            <a:r>
              <a:t>WHERE age&gt;=28 + ORDER BY + LIMIT：只保留满足条件的前 2 条。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635240" y="4800600"/>
            <a:ext cx="3886200" cy="7315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635240" y="4800600"/>
            <a:ext cx="54864" cy="73152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99831" y="4928616"/>
            <a:ext cx="3611880" cy="22860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r>
              <a:rPr sz="1300" b="1">
                <a:solidFill>
                  <a:srgbClr val="059669"/>
                </a:solidFill>
                <a:latin typeface="微软雅黑" panose="020B0503020204020204" charset="-122"/>
              </a:rPr>
              <a:t>展示方式</a:t>
            </a:r>
            <a:endParaRPr sz="1300" b="1">
              <a:solidFill>
                <a:srgbClr val="059669"/>
              </a:solidFill>
              <a:latin typeface="微软雅黑" panose="020B0503020204020204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7799831" y="5257800"/>
            <a:ext cx="3611880" cy="164592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r>
              <a:rPr sz="1100" b="0">
                <a:solidFill>
                  <a:srgbClr val="0F172A"/>
                </a:solidFill>
                <a:latin typeface="微软雅黑" panose="020B0503020204020204" charset="-122"/>
              </a:rPr>
              <a:t>先读 SQL，再看结果表或错误；每条语句都对应一个可观察结果。</a:t>
            </a:r>
            <a:endParaRPr sz="1100" b="0">
              <a:solidFill>
                <a:srgbClr val="0F172A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10896"/>
            <a:ext cx="2743200" cy="22860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r>
              <a:rPr sz="950" b="1">
                <a:solidFill>
                  <a:srgbClr val="D97706"/>
                </a:solidFill>
                <a:latin typeface="微软雅黑" panose="020B0503020204020204" charset="-122"/>
              </a:rPr>
              <a:t>SQL COVERAGE</a:t>
            </a:r>
            <a:endParaRPr sz="950" b="1">
              <a:solidFill>
                <a:srgbClr val="D97706"/>
              </a:solidFill>
              <a:latin typeface="微软雅黑" panose="020B050302020402020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9052560" cy="50292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r>
              <a:rPr sz="2500" b="1">
                <a:solidFill>
                  <a:srgbClr val="0F172A"/>
                </a:solidFill>
                <a:latin typeface="微软雅黑" panose="020B0503020204020204" charset="-122"/>
              </a:rPr>
              <a:t>CLI JOIN：联表与聚合结果解释</a:t>
            </a:r>
            <a:endParaRPr sz="2500" b="1">
              <a:solidFill>
                <a:srgbClr val="0F172A"/>
              </a:solidFill>
              <a:latin typeface="微软雅黑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1109960" y="320040"/>
            <a:ext cx="502920" cy="27432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 algn="r"/>
            <a:r>
              <a:rPr sz="1000" b="1">
                <a:solidFill>
                  <a:srgbClr val="475569"/>
                </a:solidFill>
                <a:latin typeface="微软雅黑" panose="020B0503020204020204" charset="-122"/>
              </a:rPr>
              <a:t>25</a:t>
            </a:r>
            <a:endParaRPr sz="1000" b="1">
              <a:solidFill>
                <a:srgbClr val="475569"/>
              </a:solidFill>
              <a:latin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3840480" cy="201168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r>
              <a:rPr sz="850" b="0">
                <a:solidFill>
                  <a:srgbClr val="475569"/>
                </a:solidFill>
                <a:latin typeface="微软雅黑" panose="020B0503020204020204" charset="-122"/>
              </a:rPr>
              <a:t>DBMS-5 · 成员分工 · 实现与演示</a:t>
            </a:r>
            <a:endParaRPr sz="850" b="0">
              <a:solidFill>
                <a:srgbClr val="475569"/>
              </a:solidFill>
              <a:latin typeface="微软雅黑" panose="020B0503020204020204" charset="-122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594360" y="1417320"/>
            <a:ext cx="6720840" cy="452628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03_cli_join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1776222"/>
            <a:ext cx="6720840" cy="3808476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635240" y="1783080"/>
            <a:ext cx="3931920" cy="2331720"/>
          </a:xfrm>
          <a:prstGeom prst="rect">
            <a:avLst/>
          </a:prstGeom>
          <a:noFill/>
        </p:spPr>
        <p:txBody>
          <a:bodyPr wrap="square" lIns="73152" rIns="54864">
            <a:spAutoFit/>
          </a:bodyPr>
          <a:lstStyle/>
          <a:p>
            <a:pPr>
              <a:spcAft>
                <a:spcPts val="500"/>
              </a:spcAft>
              <a:defRPr sz="1600">
                <a:solidFill>
                  <a:srgbClr val="0F172A"/>
                </a:solidFill>
                <a:latin typeface="微软雅黑" panose="020B0503020204020204" charset="-122"/>
              </a:defRPr>
            </a:pPr>
            <a:r>
              <a:t>INNER JOIN ON：uid = user_id 对齐用户和订单。</a:t>
            </a:r>
          </a:p>
          <a:p>
            <a:pPr>
              <a:spcAft>
                <a:spcPts val="500"/>
              </a:spcAft>
              <a:defRPr sz="1600">
                <a:solidFill>
                  <a:srgbClr val="0F172A"/>
                </a:solidFill>
                <a:latin typeface="微软雅黑" panose="020B0503020204020204" charset="-122"/>
              </a:defRPr>
            </a:pPr>
            <a:r>
              <a:t>ORDER BY amount DESC：金额倒序。</a:t>
            </a:r>
          </a:p>
          <a:p>
            <a:pPr>
              <a:spcAft>
                <a:spcPts val="500"/>
              </a:spcAft>
              <a:defRPr sz="1600">
                <a:solidFill>
                  <a:srgbClr val="0F172A"/>
                </a:solidFill>
                <a:latin typeface="微软雅黑" panose="020B0503020204020204" charset="-122"/>
              </a:defRPr>
            </a:pPr>
            <a:r>
              <a:t>GROUP BY region + SUM/COUNT + HAVING：按地区汇总并过滤。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635240" y="4800600"/>
            <a:ext cx="3886200" cy="7315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635240" y="4800600"/>
            <a:ext cx="54864" cy="73152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99831" y="4928616"/>
            <a:ext cx="3611880" cy="22860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r>
              <a:rPr sz="1300" b="1">
                <a:solidFill>
                  <a:srgbClr val="D97706"/>
                </a:solidFill>
                <a:latin typeface="微软雅黑" panose="020B0503020204020204" charset="-122"/>
              </a:rPr>
              <a:t>展示方式</a:t>
            </a:r>
            <a:endParaRPr sz="1300" b="1">
              <a:solidFill>
                <a:srgbClr val="D97706"/>
              </a:solidFill>
              <a:latin typeface="微软雅黑" panose="020B0503020204020204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7799831" y="5257800"/>
            <a:ext cx="3611880" cy="164592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r>
              <a:rPr sz="1100" b="0">
                <a:solidFill>
                  <a:srgbClr val="0F172A"/>
                </a:solidFill>
                <a:latin typeface="微软雅黑" panose="020B0503020204020204" charset="-122"/>
              </a:rPr>
              <a:t>先读 SQL，再看结果表或错误；每条语句都对应一个可观察结果。</a:t>
            </a:r>
            <a:endParaRPr sz="1100" b="0">
              <a:solidFill>
                <a:srgbClr val="0F172A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10896"/>
            <a:ext cx="2743200" cy="22860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r>
              <a:rPr sz="950" b="1">
                <a:solidFill>
                  <a:srgbClr val="6D28D9"/>
                </a:solidFill>
                <a:latin typeface="微软雅黑" panose="020B0503020204020204" charset="-122"/>
              </a:rPr>
              <a:t>SQL COVERAGE</a:t>
            </a:r>
            <a:endParaRPr sz="950" b="1">
              <a:solidFill>
                <a:srgbClr val="6D28D9"/>
              </a:solidFill>
              <a:latin typeface="微软雅黑" panose="020B050302020402020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9052560" cy="50292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r>
              <a:rPr sz="2500" b="1">
                <a:solidFill>
                  <a:srgbClr val="0F172A"/>
                </a:solidFill>
                <a:latin typeface="微软雅黑" panose="020B0503020204020204" charset="-122"/>
              </a:rPr>
              <a:t>CLI TX + INDEX：结构变更、索引、回滚</a:t>
            </a:r>
            <a:endParaRPr sz="2500" b="1">
              <a:solidFill>
                <a:srgbClr val="0F172A"/>
              </a:solidFill>
              <a:latin typeface="微软雅黑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1109960" y="320040"/>
            <a:ext cx="502920" cy="27432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 algn="r"/>
            <a:r>
              <a:rPr sz="1000" b="1">
                <a:solidFill>
                  <a:srgbClr val="475569"/>
                </a:solidFill>
                <a:latin typeface="微软雅黑" panose="020B0503020204020204" charset="-122"/>
              </a:rPr>
              <a:t>26</a:t>
            </a:r>
            <a:endParaRPr sz="1000" b="1">
              <a:solidFill>
                <a:srgbClr val="475569"/>
              </a:solidFill>
              <a:latin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3840480" cy="201168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r>
              <a:rPr sz="850" b="0">
                <a:solidFill>
                  <a:srgbClr val="475569"/>
                </a:solidFill>
                <a:latin typeface="微软雅黑" panose="020B0503020204020204" charset="-122"/>
              </a:rPr>
              <a:t>DBMS-5 · 成员分工 · 实现与演示</a:t>
            </a:r>
            <a:endParaRPr sz="850" b="0">
              <a:solidFill>
                <a:srgbClr val="475569"/>
              </a:solidFill>
              <a:latin typeface="微软雅黑" panose="020B0503020204020204" charset="-122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594360" y="1417320"/>
            <a:ext cx="6720840" cy="452628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04_cli_index_tx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1776222"/>
            <a:ext cx="6720840" cy="3808476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635240" y="1783080"/>
            <a:ext cx="3931920" cy="2331720"/>
          </a:xfrm>
          <a:prstGeom prst="rect">
            <a:avLst/>
          </a:prstGeom>
          <a:noFill/>
        </p:spPr>
        <p:txBody>
          <a:bodyPr wrap="square" lIns="73152" rIns="54864">
            <a:spAutoFit/>
          </a:bodyPr>
          <a:lstStyle/>
          <a:p>
            <a:pPr>
              <a:spcAft>
                <a:spcPts val="500"/>
              </a:spcAft>
              <a:defRPr sz="1600">
                <a:solidFill>
                  <a:srgbClr val="0F172A"/>
                </a:solidFill>
                <a:latin typeface="微软雅黑" panose="020B0503020204020204" charset="-122"/>
              </a:defRPr>
            </a:pPr>
            <a:r>
              <a:t>ALTER TABLE：新增 level 字段并带默认值。</a:t>
            </a:r>
          </a:p>
          <a:p>
            <a:pPr>
              <a:spcAft>
                <a:spcPts val="500"/>
              </a:spcAft>
              <a:defRPr sz="1600">
                <a:solidFill>
                  <a:srgbClr val="0F172A"/>
                </a:solidFill>
                <a:latin typeface="微软雅黑" panose="020B0503020204020204" charset="-122"/>
              </a:defRPr>
            </a:pPr>
            <a:r>
              <a:t>CREATE INDEX：BTreeIndex 对已有记录回填。</a:t>
            </a:r>
          </a:p>
          <a:p>
            <a:pPr>
              <a:spcAft>
                <a:spcPts val="500"/>
              </a:spcAft>
              <a:defRPr sz="1600">
                <a:solidFill>
                  <a:srgbClr val="0F172A"/>
                </a:solidFill>
                <a:latin typeface="微软雅黑" panose="020B0503020204020204" charset="-122"/>
              </a:defRPr>
            </a:pPr>
            <a:r>
              <a:t>ROLLBACK：Bob 年龄恢复为 25；COMMIT：订单状态持久为 archived。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635240" y="4800600"/>
            <a:ext cx="3886200" cy="7315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635240" y="4800600"/>
            <a:ext cx="54864" cy="731520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99831" y="4928616"/>
            <a:ext cx="3611880" cy="22860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r>
              <a:rPr sz="1300" b="1">
                <a:solidFill>
                  <a:srgbClr val="6D28D9"/>
                </a:solidFill>
                <a:latin typeface="微软雅黑" panose="020B0503020204020204" charset="-122"/>
              </a:rPr>
              <a:t>展示方式</a:t>
            </a:r>
            <a:endParaRPr sz="1300" b="1">
              <a:solidFill>
                <a:srgbClr val="6D28D9"/>
              </a:solidFill>
              <a:latin typeface="微软雅黑" panose="020B0503020204020204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7799831" y="5257800"/>
            <a:ext cx="3611880" cy="164592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r>
              <a:rPr sz="1100" b="0">
                <a:solidFill>
                  <a:srgbClr val="0F172A"/>
                </a:solidFill>
                <a:latin typeface="微软雅黑" panose="020B0503020204020204" charset="-122"/>
              </a:rPr>
              <a:t>先读 SQL，再看结果表或错误；每条语句都对应一个可观察结果。</a:t>
            </a:r>
            <a:endParaRPr sz="1100" b="0">
              <a:solidFill>
                <a:srgbClr val="0F172A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10896"/>
            <a:ext cx="2743200" cy="22860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r>
              <a:rPr sz="950" b="1">
                <a:solidFill>
                  <a:srgbClr val="DC2626"/>
                </a:solidFill>
                <a:latin typeface="微软雅黑" panose="020B0503020204020204" charset="-122"/>
              </a:rPr>
              <a:t>SQL COVERAGE</a:t>
            </a:r>
            <a:endParaRPr sz="950" b="1">
              <a:solidFill>
                <a:srgbClr val="DC2626"/>
              </a:solidFill>
              <a:latin typeface="微软雅黑" panose="020B050302020402020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9052560" cy="50292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r>
              <a:rPr sz="2500" b="1">
                <a:solidFill>
                  <a:srgbClr val="0F172A"/>
                </a:solidFill>
                <a:latin typeface="微软雅黑" panose="020B0503020204020204" charset="-122"/>
              </a:rPr>
              <a:t>CLI SECURITY：授权成功与越权失败</a:t>
            </a:r>
            <a:endParaRPr sz="2500" b="1">
              <a:solidFill>
                <a:srgbClr val="0F172A"/>
              </a:solidFill>
              <a:latin typeface="微软雅黑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1109960" y="320040"/>
            <a:ext cx="502920" cy="27432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 algn="r"/>
            <a:r>
              <a:rPr sz="1000" b="1">
                <a:solidFill>
                  <a:srgbClr val="475569"/>
                </a:solidFill>
                <a:latin typeface="微软雅黑" panose="020B0503020204020204" charset="-122"/>
              </a:rPr>
              <a:t>27</a:t>
            </a:r>
            <a:endParaRPr sz="1000" b="1">
              <a:solidFill>
                <a:srgbClr val="475569"/>
              </a:solidFill>
              <a:latin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3840480" cy="201168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r>
              <a:rPr sz="850" b="0">
                <a:solidFill>
                  <a:srgbClr val="475569"/>
                </a:solidFill>
                <a:latin typeface="微软雅黑" panose="020B0503020204020204" charset="-122"/>
              </a:rPr>
              <a:t>DBMS-5 · 成员分工 · 实现与演示</a:t>
            </a:r>
            <a:endParaRPr sz="850" b="0">
              <a:solidFill>
                <a:srgbClr val="475569"/>
              </a:solidFill>
              <a:latin typeface="微软雅黑" panose="020B0503020204020204" charset="-122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594360" y="1417320"/>
            <a:ext cx="6720840" cy="452628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05_cli_security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1776222"/>
            <a:ext cx="6720840" cy="3808476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635240" y="1783080"/>
            <a:ext cx="3931920" cy="2331720"/>
          </a:xfrm>
          <a:prstGeom prst="rect">
            <a:avLst/>
          </a:prstGeom>
          <a:noFill/>
        </p:spPr>
        <p:txBody>
          <a:bodyPr wrap="square" lIns="73152" rIns="54864">
            <a:spAutoFit/>
          </a:bodyPr>
          <a:lstStyle/>
          <a:p>
            <a:pPr>
              <a:spcAft>
                <a:spcPts val="500"/>
              </a:spcAft>
              <a:defRPr sz="1600">
                <a:solidFill>
                  <a:srgbClr val="0F172A"/>
                </a:solidFill>
                <a:latin typeface="微软雅黑" panose="020B0503020204020204" charset="-122"/>
              </a:defRPr>
            </a:pPr>
            <a:r>
              <a:t>CREATE USER / GRANT：UserManager 写入账号和权限。</a:t>
            </a:r>
          </a:p>
          <a:p>
            <a:pPr>
              <a:spcAft>
                <a:spcPts val="500"/>
              </a:spcAft>
              <a:defRPr sz="1600">
                <a:solidFill>
                  <a:srgbClr val="0F172A"/>
                </a:solidFill>
                <a:latin typeface="微软雅黑" panose="020B0503020204020204" charset="-122"/>
              </a:defRPr>
            </a:pPr>
            <a:r>
              <a:t>SELECT users：授权查询成功。</a:t>
            </a:r>
          </a:p>
          <a:p>
            <a:pPr>
              <a:spcAft>
                <a:spcPts val="500"/>
              </a:spcAft>
              <a:defRPr sz="1600">
                <a:solidFill>
                  <a:srgbClr val="0F172A"/>
                </a:solidFill>
                <a:latin typeface="微软雅黑" panose="020B0503020204020204" charset="-122"/>
              </a:defRPr>
            </a:pPr>
            <a:r>
              <a:t>INSERT users：未授权，返回权限错误。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635240" y="4800600"/>
            <a:ext cx="3886200" cy="7315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635240" y="4800600"/>
            <a:ext cx="54864" cy="73152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99831" y="4928616"/>
            <a:ext cx="3611880" cy="22860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r>
              <a:rPr sz="1300" b="1">
                <a:solidFill>
                  <a:srgbClr val="DC2626"/>
                </a:solidFill>
                <a:latin typeface="微软雅黑" panose="020B0503020204020204" charset="-122"/>
              </a:rPr>
              <a:t>展示方式</a:t>
            </a:r>
            <a:endParaRPr sz="1300" b="1">
              <a:solidFill>
                <a:srgbClr val="DC2626"/>
              </a:solidFill>
              <a:latin typeface="微软雅黑" panose="020B0503020204020204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7799831" y="5257800"/>
            <a:ext cx="3611880" cy="164592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r>
              <a:rPr sz="1100" b="0">
                <a:solidFill>
                  <a:srgbClr val="0F172A"/>
                </a:solidFill>
                <a:latin typeface="微软雅黑" panose="020B0503020204020204" charset="-122"/>
              </a:rPr>
              <a:t>先读 SQL，再看结果表或错误；每条语句都对应一个可观察结果。</a:t>
            </a:r>
            <a:endParaRPr sz="1100" b="0">
              <a:solidFill>
                <a:srgbClr val="0F172A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10896"/>
            <a:ext cx="2743200" cy="22860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r>
              <a:rPr sz="950" b="1">
                <a:solidFill>
                  <a:srgbClr val="334155"/>
                </a:solidFill>
                <a:latin typeface="微软雅黑" panose="020B0503020204020204" charset="-122"/>
              </a:rPr>
              <a:t>DELIVERY</a:t>
            </a:r>
            <a:endParaRPr sz="950" b="1">
              <a:solidFill>
                <a:srgbClr val="334155"/>
              </a:solidFill>
              <a:latin typeface="微软雅黑" panose="020B050302020402020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9052560" cy="50292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r>
              <a:rPr sz="2500" b="1">
                <a:solidFill>
                  <a:srgbClr val="0F172A"/>
                </a:solidFill>
                <a:latin typeface="微软雅黑" panose="020B0503020204020204" charset="-122"/>
              </a:rPr>
              <a:t>最终交付：文档、视频、脚本、测试互相支撑</a:t>
            </a:r>
            <a:endParaRPr sz="2500" b="1">
              <a:solidFill>
                <a:srgbClr val="0F172A"/>
              </a:solidFill>
              <a:latin typeface="微软雅黑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1109960" y="320040"/>
            <a:ext cx="502920" cy="27432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 algn="r"/>
            <a:r>
              <a:rPr sz="1000" b="1">
                <a:solidFill>
                  <a:srgbClr val="475569"/>
                </a:solidFill>
                <a:latin typeface="微软雅黑" panose="020B0503020204020204" charset="-122"/>
              </a:rPr>
              <a:t>28</a:t>
            </a:r>
            <a:endParaRPr sz="1000" b="1">
              <a:solidFill>
                <a:srgbClr val="475569"/>
              </a:solidFill>
              <a:latin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3840480" cy="201168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r>
              <a:rPr sz="850" b="0">
                <a:solidFill>
                  <a:srgbClr val="475569"/>
                </a:solidFill>
                <a:latin typeface="微软雅黑" panose="020B0503020204020204" charset="-122"/>
              </a:rPr>
              <a:t>DBMS-5 · 成员分工 · 实现与演示</a:t>
            </a:r>
            <a:endParaRPr sz="850" b="0">
              <a:solidFill>
                <a:srgbClr val="475569"/>
              </a:solidFill>
              <a:latin typeface="微软雅黑" panose="020B0503020204020204" charset="-122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731520" y="1600200"/>
            <a:ext cx="3246120" cy="13258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1600200"/>
            <a:ext cx="54864" cy="13258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96112" y="1728216"/>
            <a:ext cx="2971800" cy="22860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r>
              <a:rPr sz="1300" b="1">
                <a:solidFill>
                  <a:srgbClr val="2563EB"/>
                </a:solidFill>
                <a:latin typeface="微软雅黑" panose="020B0503020204020204" charset="-122"/>
              </a:rPr>
              <a:t>文档</a:t>
            </a:r>
            <a:endParaRPr sz="1300" b="1">
              <a:solidFill>
                <a:srgbClr val="2563EB"/>
              </a:solidFill>
              <a:latin typeface="微软雅黑" panose="020B0503020204020204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896112" y="2057400"/>
            <a:ext cx="2971800" cy="758952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r>
              <a:rPr sz="1150" b="0">
                <a:solidFill>
                  <a:srgbClr val="0F172A"/>
                </a:solidFill>
                <a:latin typeface="微软雅黑" panose="020B0503020204020204" charset="-122"/>
              </a:rPr>
              <a:t>启动、关闭、需求、设计、测试、用户手册、验收演示方案、录屏脚本。</a:t>
            </a:r>
            <a:endParaRPr sz="1150" b="0">
              <a:solidFill>
                <a:srgbClr val="0F172A"/>
              </a:solidFill>
              <a:latin typeface="微软雅黑" panose="020B0503020204020204" charset="-122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4434840" y="1600200"/>
            <a:ext cx="3246120" cy="13258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434840" y="1600200"/>
            <a:ext cx="54864" cy="132588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99431" y="1728216"/>
            <a:ext cx="2971800" cy="22860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r>
              <a:rPr sz="1300" b="1">
                <a:solidFill>
                  <a:srgbClr val="059669"/>
                </a:solidFill>
                <a:latin typeface="微软雅黑" panose="020B0503020204020204" charset="-122"/>
              </a:rPr>
              <a:t>视频与截图</a:t>
            </a:r>
            <a:endParaRPr sz="1300" b="1">
              <a:solidFill>
                <a:srgbClr val="059669"/>
              </a:solidFill>
              <a:latin typeface="微软雅黑" panose="020B0503020204020204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4599431" y="2057400"/>
            <a:ext cx="2971800" cy="758952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r>
              <a:rPr sz="1150" b="0">
                <a:solidFill>
                  <a:srgbClr val="0F172A"/>
                </a:solidFill>
                <a:latin typeface="微软雅黑" panose="020B0503020204020204" charset="-122"/>
              </a:rPr>
              <a:t>qt_admin_workflow_demo_fullscreen.mp4；ppt_shots / cli_shots 支撑 PPT 展示。</a:t>
            </a:r>
            <a:endParaRPr sz="1150" b="0">
              <a:solidFill>
                <a:srgbClr val="0F172A"/>
              </a:solidFill>
              <a:latin typeface="微软雅黑" panose="020B0503020204020204" charset="-122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8138160" y="1600200"/>
            <a:ext cx="3246120" cy="13258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138160" y="1600200"/>
            <a:ext cx="54864" cy="132588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02752" y="1728216"/>
            <a:ext cx="2971800" cy="22860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r>
              <a:rPr sz="1300" b="1">
                <a:solidFill>
                  <a:srgbClr val="D97706"/>
                </a:solidFill>
                <a:latin typeface="微软雅黑" panose="020B0503020204020204" charset="-122"/>
              </a:rPr>
              <a:t>脚本与测试</a:t>
            </a:r>
            <a:endParaRPr sz="1300" b="1">
              <a:solidFill>
                <a:srgbClr val="D97706"/>
              </a:solidFill>
              <a:latin typeface="微软雅黑" panose="020B0503020204020204" charset="-122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8302752" y="2057400"/>
            <a:ext cx="2971800" cy="758952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r>
              <a:rPr sz="1150" b="0">
                <a:solidFill>
                  <a:srgbClr val="0F172A"/>
                </a:solidFill>
                <a:latin typeface="微软雅黑" panose="020B0503020204020204" charset="-122"/>
              </a:rPr>
              <a:t>full_acceptance_demo.sql、cli_step_demo.sql、reset_qt_demo.sql、ctest。</a:t>
            </a:r>
            <a:endParaRPr sz="1150" b="0">
              <a:solidFill>
                <a:srgbClr val="0F172A"/>
              </a:solidFill>
              <a:latin typeface="微软雅黑" panose="020B0503020204020204" charset="-122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868680" y="3977639"/>
            <a:ext cx="10424160" cy="1097280"/>
          </a:xfrm>
          <a:prstGeom prst="rect">
            <a:avLst/>
          </a:prstGeom>
          <a:noFill/>
        </p:spPr>
        <p:txBody>
          <a:bodyPr wrap="square" lIns="73152" rIns="54864">
            <a:spAutoFit/>
          </a:bodyPr>
          <a:lstStyle/>
          <a:p>
            <a:pPr>
              <a:spcAft>
                <a:spcPts val="500"/>
              </a:spcAft>
              <a:defRPr sz="1800">
                <a:solidFill>
                  <a:srgbClr val="0F172A"/>
                </a:solidFill>
                <a:latin typeface="微软雅黑" panose="020B0503020204020204" charset="-122"/>
              </a:defRPr>
            </a:pPr>
            <a:r>
              <a:t>交付闭环：报告解释“为什么这样设计”，脚本证明“功能真的能跑”，录屏展示“界面确实可操作”。</a:t>
            </a:r>
          </a:p>
          <a:p>
            <a:pPr>
              <a:spcAft>
                <a:spcPts val="500"/>
              </a:spcAft>
              <a:defRPr sz="1800">
                <a:solidFill>
                  <a:srgbClr val="0F172A"/>
                </a:solidFill>
                <a:latin typeface="微软雅黑" panose="020B0503020204020204" charset="-122"/>
              </a:defRPr>
            </a:pPr>
            <a:r>
              <a:t>恢复脚本确保重新排练或现场演示前可以清理已有库表和用户。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10896"/>
            <a:ext cx="2743200" cy="22860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r>
              <a:rPr sz="950" b="1">
                <a:solidFill>
                  <a:srgbClr val="2563EB"/>
                </a:solidFill>
                <a:latin typeface="微软雅黑" panose="020B0503020204020204" charset="-122"/>
              </a:rPr>
              <a:t>SUMMARY</a:t>
            </a:r>
            <a:endParaRPr sz="950" b="1">
              <a:solidFill>
                <a:srgbClr val="2563EB"/>
              </a:solidFill>
              <a:latin typeface="微软雅黑" panose="020B050302020402020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9052560" cy="50292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r>
              <a:rPr sz="2500" b="1">
                <a:solidFill>
                  <a:srgbClr val="0F172A"/>
                </a:solidFill>
                <a:latin typeface="微软雅黑" panose="020B0503020204020204" charset="-122"/>
              </a:rPr>
              <a:t>系统总结：功能覆盖 / 实现清晰 / 演示可复现</a:t>
            </a:r>
            <a:endParaRPr sz="2500" b="1">
              <a:solidFill>
                <a:srgbClr val="0F172A"/>
              </a:solidFill>
              <a:latin typeface="微软雅黑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1109960" y="320040"/>
            <a:ext cx="502920" cy="27432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 algn="r"/>
            <a:r>
              <a:rPr sz="1000" b="1">
                <a:solidFill>
                  <a:srgbClr val="475569"/>
                </a:solidFill>
                <a:latin typeface="微软雅黑" panose="020B0503020204020204" charset="-122"/>
              </a:rPr>
              <a:t>29</a:t>
            </a:r>
            <a:endParaRPr sz="1000" b="1">
              <a:solidFill>
                <a:srgbClr val="475569"/>
              </a:solidFill>
              <a:latin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3840480" cy="201168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r>
              <a:rPr sz="850" b="0">
                <a:solidFill>
                  <a:srgbClr val="475569"/>
                </a:solidFill>
                <a:latin typeface="微软雅黑" panose="020B0503020204020204" charset="-122"/>
              </a:rPr>
              <a:t>DBMS-5 · 成员分工 · 实现与演示</a:t>
            </a:r>
            <a:endParaRPr sz="850" b="0">
              <a:solidFill>
                <a:srgbClr val="475569"/>
              </a:solidFill>
              <a:latin typeface="微软雅黑" panose="020B0503020204020204" charset="-122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822960" y="1645920"/>
            <a:ext cx="4800600" cy="1051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22960" y="1645920"/>
            <a:ext cx="54864" cy="105156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87552" y="1773936"/>
            <a:ext cx="4526280" cy="22860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r>
              <a:rPr sz="1500" b="1">
                <a:solidFill>
                  <a:srgbClr val="2563EB"/>
                </a:solidFill>
                <a:latin typeface="微软雅黑" panose="020B0503020204020204" charset="-122"/>
              </a:rPr>
              <a:t>功能覆盖</a:t>
            </a:r>
            <a:endParaRPr sz="1500" b="1">
              <a:solidFill>
                <a:srgbClr val="2563EB"/>
              </a:solidFill>
              <a:latin typeface="微软雅黑" panose="020B0503020204020204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987552" y="2103120"/>
            <a:ext cx="4526280" cy="484631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r>
              <a:rPr sz="1200" b="0">
                <a:solidFill>
                  <a:srgbClr val="0F172A"/>
                </a:solidFill>
                <a:latin typeface="微软雅黑" panose="020B0503020204020204" charset="-122"/>
              </a:rPr>
              <a:t>DDL、DML、JOIN、聚合、索引、事务、权限均有语句、界面或测试证据。</a:t>
            </a:r>
            <a:endParaRPr sz="1200" b="0">
              <a:solidFill>
                <a:srgbClr val="0F172A"/>
              </a:solidFill>
              <a:latin typeface="微软雅黑" panose="020B0503020204020204" charset="-122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6217920" y="1645920"/>
            <a:ext cx="4800600" cy="1051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17920" y="1645920"/>
            <a:ext cx="54864" cy="105156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82512" y="1773936"/>
            <a:ext cx="4526280" cy="22860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r>
              <a:rPr sz="1500" b="1">
                <a:solidFill>
                  <a:srgbClr val="059669"/>
                </a:solidFill>
                <a:latin typeface="微软雅黑" panose="020B0503020204020204" charset="-122"/>
              </a:rPr>
              <a:t>实现清晰</a:t>
            </a:r>
            <a:endParaRPr sz="1500" b="1">
              <a:solidFill>
                <a:srgbClr val="059669"/>
              </a:solidFill>
              <a:latin typeface="微软雅黑" panose="020B0503020204020204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6382512" y="2103120"/>
            <a:ext cx="4526280" cy="484631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r>
              <a:rPr sz="1200" b="0">
                <a:solidFill>
                  <a:srgbClr val="0F172A"/>
                </a:solidFill>
                <a:latin typeface="微软雅黑" panose="020B0503020204020204" charset="-122"/>
              </a:rPr>
              <a:t>DBEngine、Parser、Executor、Storage、Qt、Security 分层明确，职责能对应到成员分工。</a:t>
            </a:r>
            <a:endParaRPr sz="1200" b="0">
              <a:solidFill>
                <a:srgbClr val="0F172A"/>
              </a:solidFill>
              <a:latin typeface="微软雅黑" panose="020B0503020204020204" charset="-122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822960" y="3246120"/>
            <a:ext cx="4800600" cy="1051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22960" y="3246120"/>
            <a:ext cx="54864" cy="105156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87552" y="3374136"/>
            <a:ext cx="4526280" cy="22860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r>
              <a:rPr sz="1500" b="1">
                <a:solidFill>
                  <a:srgbClr val="D97706"/>
                </a:solidFill>
                <a:latin typeface="微软雅黑" panose="020B0503020204020204" charset="-122"/>
              </a:rPr>
              <a:t>结果可见</a:t>
            </a:r>
            <a:endParaRPr sz="1500" b="1">
              <a:solidFill>
                <a:srgbClr val="D97706"/>
              </a:solidFill>
              <a:latin typeface="微软雅黑" panose="020B0503020204020204" charset="-122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987552" y="3703320"/>
            <a:ext cx="4526280" cy="484631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r>
              <a:rPr sz="1200" b="0">
                <a:solidFill>
                  <a:srgbClr val="0F172A"/>
                </a:solidFill>
                <a:latin typeface="微软雅黑" panose="020B0503020204020204" charset="-122"/>
              </a:rPr>
              <a:t>每条关键 SQL 都对应结构变化、查询结果、affectedRows 或错误信息。</a:t>
            </a:r>
            <a:endParaRPr sz="1200" b="0">
              <a:solidFill>
                <a:srgbClr val="0F172A"/>
              </a:solidFill>
              <a:latin typeface="微软雅黑" panose="020B0503020204020204" charset="-122"/>
            </a:endParaRPr>
          </a:p>
        </p:txBody>
      </p:sp>
      <p:sp>
        <p:nvSpPr>
          <p:cNvPr id="19" name="Rounded Rectangle 18"/>
          <p:cNvSpPr/>
          <p:nvPr/>
        </p:nvSpPr>
        <p:spPr>
          <a:xfrm>
            <a:off x="6217920" y="3246120"/>
            <a:ext cx="4800600" cy="1051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17920" y="3246120"/>
            <a:ext cx="54864" cy="1051560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82512" y="3374136"/>
            <a:ext cx="4526280" cy="22860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r>
              <a:rPr sz="1500" b="1">
                <a:solidFill>
                  <a:srgbClr val="6D28D9"/>
                </a:solidFill>
                <a:latin typeface="微软雅黑" panose="020B0503020204020204" charset="-122"/>
              </a:rPr>
              <a:t>可复现</a:t>
            </a:r>
            <a:endParaRPr sz="1500" b="1">
              <a:solidFill>
                <a:srgbClr val="6D28D9"/>
              </a:solidFill>
              <a:latin typeface="微软雅黑" panose="020B0503020204020204" charset="-122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6382512" y="3703320"/>
            <a:ext cx="4526280" cy="484631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r>
              <a:rPr sz="1200" b="0">
                <a:solidFill>
                  <a:srgbClr val="0F172A"/>
                </a:solidFill>
                <a:latin typeface="微软雅黑" panose="020B0503020204020204" charset="-122"/>
              </a:rPr>
              <a:t>录屏脚本、CLI 脚本、恢复脚本和测试报告支撑反复验证。</a:t>
            </a:r>
            <a:endParaRPr sz="1200" b="0">
              <a:solidFill>
                <a:srgbClr val="0F172A"/>
              </a:solidFill>
              <a:latin typeface="微软雅黑" panose="020B0503020204020204" charset="-122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914400" y="5577840"/>
            <a:ext cx="10241280" cy="32004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 algn="ctr"/>
            <a:r>
              <a:rPr sz="2000" b="1">
                <a:solidFill>
                  <a:srgbClr val="0F172A"/>
                </a:solidFill>
                <a:latin typeface="微软雅黑" panose="020B0503020204020204" charset="-122"/>
              </a:rPr>
              <a:t>系统能力：可运行、可查询、可编辑、可拒绝越权、可重复验证。</a:t>
            </a:r>
            <a:endParaRPr sz="2000" b="1">
              <a:solidFill>
                <a:srgbClr val="0F172A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7997</Words>
  <Application>WPS 演示</Application>
  <PresentationFormat>On-screen Show (4:3)</PresentationFormat>
  <Paragraphs>691</Paragraphs>
  <Slides>29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29</vt:i4>
      </vt:variant>
    </vt:vector>
  </HeadingPairs>
  <TitlesOfParts>
    <vt:vector size="38" baseType="lpstr">
      <vt:lpstr>Arial</vt:lpstr>
      <vt:lpstr>宋体</vt:lpstr>
      <vt:lpstr>Wingdings</vt:lpstr>
      <vt:lpstr>Arial</vt:lpstr>
      <vt:lpstr>微软雅黑</vt:lpstr>
      <vt:lpstr>Consolas</vt:lpstr>
      <vt:lpstr>Calibri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行昔</cp:lastModifiedBy>
  <cp:revision>2</cp:revision>
  <dcterms:created xsi:type="dcterms:W3CDTF">2013-01-27T09:14:00Z</dcterms:created>
  <dcterms:modified xsi:type="dcterms:W3CDTF">2026-05-20T10:14:25Z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2052-12.1.0.26375</vt:lpwstr>
  </property>
  <property fmtid="{D5CDD505-2E9C-101B-9397-08002B2CF9AE}" pid="3" name="ICV">
    <vt:lpwstr>ABE634A84A154887AF59ADC0188919B0_12</vt:lpwstr>
  </property>
</Properties>
</file>